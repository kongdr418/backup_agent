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Circle 3"/>
          <p:cNvSpPr/>
          <p:nvPr/>
        </p:nvSpPr>
        <p:spPr>
          <a:xfrm>
            <a:off x="8858250" y="-1333500"/>
            <a:ext cx="4191000" cy="4191000"/>
          </a:xfrm>
          <a:prstGeom prst="ellipse">
            <a:avLst/>
          </a:prstGeom>
          <a:solidFill>
            <a:srgbClr val="DBEAFE">
              <a:alpha val="60000"/>
            </a:srgbClr>
          </a:solidFill>
        </p:spPr>
      </p:sp>
      <p:sp>
        <p:nvSpPr>
          <p:cNvPr id="4" name="Circle 4"/>
          <p:cNvSpPr/>
          <p:nvPr/>
        </p:nvSpPr>
        <p:spPr>
          <a:xfrm>
            <a:off x="-952500" y="4762500"/>
            <a:ext cx="3429000" cy="3429000"/>
          </a:xfrm>
          <a:prstGeom prst="ellipse">
            <a:avLst/>
          </a:prstGeom>
          <a:solidFill>
            <a:srgbClr val="DBEAFE">
              <a:alpha val="40000"/>
            </a:srgbClr>
          </a:solidFill>
        </p:spPr>
      </p:sp>
      <p:sp>
        <p:nvSpPr>
          <p:cNvPr id="5" name="Circle 5"/>
          <p:cNvSpPr/>
          <p:nvPr/>
        </p:nvSpPr>
        <p:spPr>
          <a:xfrm>
            <a:off x="3048000" y="381000"/>
            <a:ext cx="6096000" cy="6096000"/>
          </a:xfrm>
          <a:prstGeom prst="ellipse">
            <a:avLst/>
          </a:prstGeom>
          <a:solidFill>
            <a:srgbClr val="F8FAFC">
              <a:alpha val="80000"/>
            </a:srgbClr>
          </a:solidFill>
        </p:spPr>
      </p:sp>
      <p:sp>
        <p:nvSpPr>
          <p:cNvPr id="6" name="Text 6"/>
          <p:cNvSpPr txBox="1"/>
          <p:nvPr/>
        </p:nvSpPr>
        <p:spPr>
          <a:xfrm>
            <a:off x="2735008" y="2091690"/>
            <a:ext cx="6721983" cy="61722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3600" b="1" dirty="0">
                <a:solidFill>
                  <a:srgbClr val="1E293B"/>
                </a:solidFill>
                <a:latin typeface="Microsoft YaHei"/>
                <a:ea typeface="Microsoft YaHei"/>
              </a:rPr>
              <a:t>微信小程序开发入门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218617" y="3018472"/>
            <a:ext cx="5754767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dirty="0">
                <a:solidFill>
                  <a:srgbClr val="64748B"/>
                </a:solidFill>
                <a:latin typeface="Microsoft YaHei"/>
                <a:ea typeface="Microsoft YaHei"/>
              </a:rPr>
              <a:t>有前端基础（HTML / CSS / JS）的初学者</a:t>
            </a:r>
          </a:p>
        </p:txBody>
      </p:sp>
      <p:sp>
        <p:nvSpPr>
          <p:cNvPr id="8" name="Line 8"/>
          <p:cNvSpPr/>
          <p:nvPr/>
        </p:nvSpPr>
        <p:spPr>
          <a:xfrm>
            <a:off x="5143500" y="3714750"/>
            <a:ext cx="1905000" cy="952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2834378" y="3963352"/>
            <a:ext cx="6523244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Microsoft YaHei"/>
                <a:ea typeface="Microsoft YaHei"/>
              </a:rPr>
              <a:t>学习目标：掌握小程序开发流程、核心文件结构及常用组件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124450" y="5459730"/>
            <a:ext cx="125730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微信小程序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377940" y="5459730"/>
            <a:ext cx="103632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代码开发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Circle 3"/>
          <p:cNvSpPr/>
          <p:nvPr/>
        </p:nvSpPr>
        <p:spPr>
          <a:xfrm>
            <a:off x="762000" y="5048250"/>
            <a:ext cx="2286000" cy="2286000"/>
          </a:xfrm>
          <a:prstGeom prst="ellipse">
            <a:avLst/>
          </a:prstGeom>
          <a:solidFill>
            <a:srgbClr val="DBEAFE">
              <a:alpha val="40000"/>
            </a:srgbClr>
          </a:solidFill>
        </p:spPr>
      </p:sp>
      <p:sp>
        <p:nvSpPr>
          <p:cNvPr id="4" name="Circle 4"/>
          <p:cNvSpPr/>
          <p:nvPr/>
        </p:nvSpPr>
        <p:spPr>
          <a:xfrm>
            <a:off x="9525000" y="0"/>
            <a:ext cx="1905000" cy="1905000"/>
          </a:xfrm>
          <a:prstGeom prst="ellipse">
            <a:avLst/>
          </a:prstGeom>
          <a:solidFill>
            <a:srgbClr val="DBEAFE">
              <a:alpha val="30000"/>
            </a:srgbClr>
          </a:solidFill>
        </p:spPr>
      </p:sp>
      <p:sp>
        <p:nvSpPr>
          <p:cNvPr id="5" name="Text 5"/>
          <p:cNvSpPr txBox="1"/>
          <p:nvPr/>
        </p:nvSpPr>
        <p:spPr>
          <a:xfrm>
            <a:off x="571500" y="687705"/>
            <a:ext cx="2431161" cy="46291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2700" b="1" dirty="0">
                <a:solidFill>
                  <a:srgbClr val="1E293B"/>
                </a:solidFill>
                <a:latin typeface="Microsoft YaHei"/>
                <a:ea typeface="Microsoft YaHei"/>
              </a:rPr>
              <a:t>课程大纲</a:t>
            </a:r>
          </a:p>
        </p:txBody>
      </p:sp>
      <p:sp>
        <p:nvSpPr>
          <p:cNvPr id="6" name="Path 6"/>
          <p:cNvSpPr/>
          <p:nvPr/>
        </p:nvSpPr>
        <p:spPr>
          <a:xfrm>
            <a:off x="1428750" y="2667000"/>
            <a:ext cx="1238250" cy="571500"/>
          </a:xfrm>
          <a:custGeom>
            <a:avLst/>
            <a:gdLst/>
            <a:ahLst/>
            <a:cxnLst/>
            <a:rect l="0" t="0" r="0" b="0"/>
            <a:pathLst>
              <a:path w="1300000" h="600000">
                <a:moveTo>
                  <a:pt x="100000" y="0"/>
                </a:moveTo>
                <a:lnTo>
                  <a:pt x="1200000" y="0"/>
                </a:lnTo>
                <a:cubicBezTo>
                  <a:pt x="1255228" y="0"/>
                  <a:pt x="1300000" y="44772"/>
                  <a:pt x="1300000" y="100000"/>
                </a:cubicBezTo>
                <a:lnTo>
                  <a:pt x="1300000" y="500000"/>
                </a:lnTo>
                <a:cubicBezTo>
                  <a:pt x="1300000" y="555228"/>
                  <a:pt x="1255228" y="600000"/>
                  <a:pt x="1200000" y="600000"/>
                </a:cubicBezTo>
                <a:lnTo>
                  <a:pt x="100000" y="600000"/>
                </a:lnTo>
                <a:cubicBezTo>
                  <a:pt x="44772" y="600000"/>
                  <a:pt x="0" y="555228"/>
                  <a:pt x="0" y="500000"/>
                </a:cubicBezTo>
                <a:lnTo>
                  <a:pt x="0" y="100000"/>
                </a:lnTo>
                <a:cubicBezTo>
                  <a:pt x="0" y="44772"/>
                  <a:pt x="44772" y="0"/>
                  <a:pt x="100000" y="0"/>
                </a:cubicBezTo>
                <a:close/>
              </a:path>
            </a:pathLst>
          </a:custGeom>
          <a:solidFill>
            <a:srgbClr val="DBEAFE"/>
          </a:solidFill>
          <a:ln w="19050">
            <a:solidFill>
              <a:srgbClr val="2563EB"/>
            </a:solidFill>
          </a:ln>
        </p:spPr>
      </p:sp>
      <p:sp>
        <p:nvSpPr>
          <p:cNvPr id="7" name="Circle 7"/>
          <p:cNvSpPr/>
          <p:nvPr/>
        </p:nvSpPr>
        <p:spPr>
          <a:xfrm>
            <a:off x="1533525" y="2819400"/>
            <a:ext cx="266700" cy="2667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563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526867" y="2840355"/>
            <a:ext cx="28001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563EB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857375" y="2849880"/>
            <a:ext cx="81534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Microsoft YaHei"/>
                <a:ea typeface="Microsoft YaHei"/>
              </a:rPr>
              <a:t>什么是</a:t>
            </a:r>
          </a:p>
        </p:txBody>
      </p:sp>
      <p:sp>
        <p:nvSpPr>
          <p:cNvPr id="10" name="Path 10"/>
          <p:cNvSpPr/>
          <p:nvPr/>
        </p:nvSpPr>
        <p:spPr>
          <a:xfrm>
            <a:off x="3048000" y="2667000"/>
            <a:ext cx="1238250" cy="571500"/>
          </a:xfrm>
          <a:custGeom>
            <a:avLst/>
            <a:gdLst/>
            <a:ahLst/>
            <a:cxnLst/>
            <a:rect l="0" t="0" r="0" b="0"/>
            <a:pathLst>
              <a:path w="1300000" h="600000">
                <a:moveTo>
                  <a:pt x="100000" y="0"/>
                </a:moveTo>
                <a:lnTo>
                  <a:pt x="1200000" y="0"/>
                </a:lnTo>
                <a:cubicBezTo>
                  <a:pt x="1255228" y="0"/>
                  <a:pt x="1300000" y="44772"/>
                  <a:pt x="1300000" y="100000"/>
                </a:cubicBezTo>
                <a:lnTo>
                  <a:pt x="1300000" y="500000"/>
                </a:lnTo>
                <a:cubicBezTo>
                  <a:pt x="1300000" y="555228"/>
                  <a:pt x="1255228" y="600000"/>
                  <a:pt x="1200000" y="600000"/>
                </a:cubicBezTo>
                <a:lnTo>
                  <a:pt x="100000" y="600000"/>
                </a:lnTo>
                <a:cubicBezTo>
                  <a:pt x="44772" y="600000"/>
                  <a:pt x="0" y="555228"/>
                  <a:pt x="0" y="500000"/>
                </a:cubicBezTo>
                <a:lnTo>
                  <a:pt x="0" y="100000"/>
                </a:lnTo>
                <a:cubicBezTo>
                  <a:pt x="0" y="44772"/>
                  <a:pt x="44772" y="0"/>
                  <a:pt x="100000" y="0"/>
                </a:cubicBezTo>
                <a:close/>
              </a:path>
            </a:pathLst>
          </a:custGeom>
          <a:solidFill>
            <a:srgbClr val="DBEAFE"/>
          </a:solidFill>
          <a:ln w="19050">
            <a:solidFill>
              <a:srgbClr val="2563EB"/>
            </a:solidFill>
          </a:ln>
        </p:spPr>
      </p:sp>
      <p:sp>
        <p:nvSpPr>
          <p:cNvPr id="11" name="Circle 11"/>
          <p:cNvSpPr/>
          <p:nvPr/>
        </p:nvSpPr>
        <p:spPr>
          <a:xfrm>
            <a:off x="3152775" y="2819400"/>
            <a:ext cx="266700" cy="2667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563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3146117" y="2840355"/>
            <a:ext cx="28001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563EB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476625" y="2849880"/>
            <a:ext cx="103632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Microsoft YaHei"/>
                <a:ea typeface="Microsoft YaHei"/>
              </a:rPr>
              <a:t>环境搭建</a:t>
            </a:r>
          </a:p>
        </p:txBody>
      </p:sp>
      <p:sp>
        <p:nvSpPr>
          <p:cNvPr id="14" name="Path 14"/>
          <p:cNvSpPr/>
          <p:nvPr/>
        </p:nvSpPr>
        <p:spPr>
          <a:xfrm>
            <a:off x="4667250" y="2667000"/>
            <a:ext cx="1238250" cy="571500"/>
          </a:xfrm>
          <a:custGeom>
            <a:avLst/>
            <a:gdLst/>
            <a:ahLst/>
            <a:cxnLst/>
            <a:rect l="0" t="0" r="0" b="0"/>
            <a:pathLst>
              <a:path w="1300000" h="600000">
                <a:moveTo>
                  <a:pt x="100000" y="0"/>
                </a:moveTo>
                <a:lnTo>
                  <a:pt x="1200000" y="0"/>
                </a:lnTo>
                <a:cubicBezTo>
                  <a:pt x="1255228" y="0"/>
                  <a:pt x="1300000" y="44772"/>
                  <a:pt x="1300000" y="100000"/>
                </a:cubicBezTo>
                <a:lnTo>
                  <a:pt x="1300000" y="500000"/>
                </a:lnTo>
                <a:cubicBezTo>
                  <a:pt x="1300000" y="555228"/>
                  <a:pt x="1255228" y="600000"/>
                  <a:pt x="1200000" y="600000"/>
                </a:cubicBezTo>
                <a:lnTo>
                  <a:pt x="100000" y="600000"/>
                </a:lnTo>
                <a:cubicBezTo>
                  <a:pt x="44772" y="600000"/>
                  <a:pt x="0" y="555228"/>
                  <a:pt x="0" y="500000"/>
                </a:cubicBezTo>
                <a:lnTo>
                  <a:pt x="0" y="100000"/>
                </a:lnTo>
                <a:cubicBezTo>
                  <a:pt x="0" y="44772"/>
                  <a:pt x="44772" y="0"/>
                  <a:pt x="100000" y="0"/>
                </a:cubicBezTo>
                <a:close/>
              </a:path>
            </a:pathLst>
          </a:custGeom>
          <a:solidFill>
            <a:srgbClr val="DBEAFE"/>
          </a:solidFill>
          <a:ln w="19050">
            <a:solidFill>
              <a:srgbClr val="2563EB"/>
            </a:solidFill>
          </a:ln>
        </p:spPr>
      </p:sp>
      <p:sp>
        <p:nvSpPr>
          <p:cNvPr id="15" name="Circle 15"/>
          <p:cNvSpPr/>
          <p:nvPr/>
        </p:nvSpPr>
        <p:spPr>
          <a:xfrm>
            <a:off x="4772025" y="2819400"/>
            <a:ext cx="266700" cy="2667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563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765367" y="2840355"/>
            <a:ext cx="28001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563EB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95875" y="2849880"/>
            <a:ext cx="103632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Microsoft YaHei"/>
                <a:ea typeface="Microsoft YaHei"/>
              </a:rPr>
              <a:t>项目结构</a:t>
            </a:r>
          </a:p>
        </p:txBody>
      </p:sp>
      <p:sp>
        <p:nvSpPr>
          <p:cNvPr id="18" name="Path 18"/>
          <p:cNvSpPr/>
          <p:nvPr/>
        </p:nvSpPr>
        <p:spPr>
          <a:xfrm>
            <a:off x="6286500" y="2667000"/>
            <a:ext cx="1238250" cy="571500"/>
          </a:xfrm>
          <a:custGeom>
            <a:avLst/>
            <a:gdLst/>
            <a:ahLst/>
            <a:cxnLst/>
            <a:rect l="0" t="0" r="0" b="0"/>
            <a:pathLst>
              <a:path w="1300000" h="600000">
                <a:moveTo>
                  <a:pt x="100000" y="0"/>
                </a:moveTo>
                <a:lnTo>
                  <a:pt x="1200000" y="0"/>
                </a:lnTo>
                <a:cubicBezTo>
                  <a:pt x="1255228" y="0"/>
                  <a:pt x="1300000" y="44772"/>
                  <a:pt x="1300000" y="100000"/>
                </a:cubicBezTo>
                <a:lnTo>
                  <a:pt x="1300000" y="500000"/>
                </a:lnTo>
                <a:cubicBezTo>
                  <a:pt x="1300000" y="555228"/>
                  <a:pt x="1255228" y="600000"/>
                  <a:pt x="1200000" y="600000"/>
                </a:cubicBezTo>
                <a:lnTo>
                  <a:pt x="100000" y="600000"/>
                </a:lnTo>
                <a:cubicBezTo>
                  <a:pt x="44772" y="600000"/>
                  <a:pt x="0" y="555228"/>
                  <a:pt x="0" y="500000"/>
                </a:cubicBezTo>
                <a:lnTo>
                  <a:pt x="0" y="100000"/>
                </a:lnTo>
                <a:cubicBezTo>
                  <a:pt x="0" y="44772"/>
                  <a:pt x="44772" y="0"/>
                  <a:pt x="100000" y="0"/>
                </a:cubicBezTo>
                <a:close/>
              </a:path>
            </a:pathLst>
          </a:custGeom>
          <a:solidFill>
            <a:srgbClr val="DBEAFE"/>
          </a:solidFill>
          <a:ln w="19050">
            <a:solidFill>
              <a:srgbClr val="2563EB"/>
            </a:solidFill>
          </a:ln>
        </p:spPr>
      </p:sp>
      <p:sp>
        <p:nvSpPr>
          <p:cNvPr id="19" name="Circle 19"/>
          <p:cNvSpPr/>
          <p:nvPr/>
        </p:nvSpPr>
        <p:spPr>
          <a:xfrm>
            <a:off x="6391275" y="2819400"/>
            <a:ext cx="266700" cy="2667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563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6384617" y="2840355"/>
            <a:ext cx="28001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563EB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715125" y="2849880"/>
            <a:ext cx="103632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Microsoft YaHei"/>
                <a:ea typeface="Microsoft YaHei"/>
              </a:rPr>
              <a:t>开发流程</a:t>
            </a:r>
          </a:p>
        </p:txBody>
      </p:sp>
      <p:sp>
        <p:nvSpPr>
          <p:cNvPr id="22" name="Path 22"/>
          <p:cNvSpPr/>
          <p:nvPr/>
        </p:nvSpPr>
        <p:spPr>
          <a:xfrm>
            <a:off x="7905750" y="2667000"/>
            <a:ext cx="1238250" cy="571500"/>
          </a:xfrm>
          <a:custGeom>
            <a:avLst/>
            <a:gdLst/>
            <a:ahLst/>
            <a:cxnLst/>
            <a:rect l="0" t="0" r="0" b="0"/>
            <a:pathLst>
              <a:path w="1300000" h="600000">
                <a:moveTo>
                  <a:pt x="100000" y="0"/>
                </a:moveTo>
                <a:lnTo>
                  <a:pt x="1200000" y="0"/>
                </a:lnTo>
                <a:cubicBezTo>
                  <a:pt x="1255228" y="0"/>
                  <a:pt x="1300000" y="44772"/>
                  <a:pt x="1300000" y="100000"/>
                </a:cubicBezTo>
                <a:lnTo>
                  <a:pt x="1300000" y="500000"/>
                </a:lnTo>
                <a:cubicBezTo>
                  <a:pt x="1300000" y="555228"/>
                  <a:pt x="1255228" y="600000"/>
                  <a:pt x="1200000" y="600000"/>
                </a:cubicBezTo>
                <a:lnTo>
                  <a:pt x="100000" y="600000"/>
                </a:lnTo>
                <a:cubicBezTo>
                  <a:pt x="44772" y="600000"/>
                  <a:pt x="0" y="555228"/>
                  <a:pt x="0" y="500000"/>
                </a:cubicBezTo>
                <a:lnTo>
                  <a:pt x="0" y="100000"/>
                </a:lnTo>
                <a:cubicBezTo>
                  <a:pt x="0" y="44772"/>
                  <a:pt x="44772" y="0"/>
                  <a:pt x="100000" y="0"/>
                </a:cubicBezTo>
                <a:close/>
              </a:path>
            </a:pathLst>
          </a:custGeom>
          <a:solidFill>
            <a:srgbClr val="DBEAFE"/>
          </a:solidFill>
          <a:ln w="19050">
            <a:solidFill>
              <a:srgbClr val="2563EB"/>
            </a:solidFill>
          </a:ln>
        </p:spPr>
      </p:sp>
      <p:sp>
        <p:nvSpPr>
          <p:cNvPr id="23" name="Circle 23"/>
          <p:cNvSpPr/>
          <p:nvPr/>
        </p:nvSpPr>
        <p:spPr>
          <a:xfrm>
            <a:off x="8010525" y="2819400"/>
            <a:ext cx="266700" cy="2667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563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8003867" y="2840355"/>
            <a:ext cx="28001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563EB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334375" y="2849880"/>
            <a:ext cx="958977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Microsoft YaHei"/>
                <a:ea typeface="Microsoft YaHei"/>
              </a:rPr>
              <a:t>组件API</a:t>
            </a:r>
          </a:p>
        </p:txBody>
      </p:sp>
      <p:sp>
        <p:nvSpPr>
          <p:cNvPr id="26" name="Path 26"/>
          <p:cNvSpPr/>
          <p:nvPr/>
        </p:nvSpPr>
        <p:spPr>
          <a:xfrm>
            <a:off x="9525000" y="2667000"/>
            <a:ext cx="1238250" cy="571500"/>
          </a:xfrm>
          <a:custGeom>
            <a:avLst/>
            <a:gdLst/>
            <a:ahLst/>
            <a:cxnLst/>
            <a:rect l="0" t="0" r="0" b="0"/>
            <a:pathLst>
              <a:path w="1300000" h="600000">
                <a:moveTo>
                  <a:pt x="100000" y="0"/>
                </a:moveTo>
                <a:lnTo>
                  <a:pt x="1200000" y="0"/>
                </a:lnTo>
                <a:cubicBezTo>
                  <a:pt x="1255228" y="0"/>
                  <a:pt x="1300000" y="44772"/>
                  <a:pt x="1300000" y="100000"/>
                </a:cubicBezTo>
                <a:lnTo>
                  <a:pt x="1300000" y="500000"/>
                </a:lnTo>
                <a:cubicBezTo>
                  <a:pt x="1300000" y="555228"/>
                  <a:pt x="1255228" y="600000"/>
                  <a:pt x="1200000" y="600000"/>
                </a:cubicBezTo>
                <a:lnTo>
                  <a:pt x="100000" y="600000"/>
                </a:lnTo>
                <a:cubicBezTo>
                  <a:pt x="44772" y="600000"/>
                  <a:pt x="0" y="555228"/>
                  <a:pt x="0" y="500000"/>
                </a:cubicBezTo>
                <a:lnTo>
                  <a:pt x="0" y="100000"/>
                </a:lnTo>
                <a:cubicBezTo>
                  <a:pt x="0" y="44772"/>
                  <a:pt x="44772" y="0"/>
                  <a:pt x="100000" y="0"/>
                </a:cubicBezTo>
                <a:close/>
              </a:path>
            </a:pathLst>
          </a:custGeom>
          <a:solidFill>
            <a:srgbClr val="DBEAFE"/>
          </a:solidFill>
          <a:ln w="19050">
            <a:solidFill>
              <a:srgbClr val="2563EB"/>
            </a:solidFill>
          </a:ln>
        </p:spPr>
      </p:sp>
      <p:sp>
        <p:nvSpPr>
          <p:cNvPr id="27" name="Circle 27"/>
          <p:cNvSpPr/>
          <p:nvPr/>
        </p:nvSpPr>
        <p:spPr>
          <a:xfrm>
            <a:off x="9629775" y="2819400"/>
            <a:ext cx="266700" cy="2667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563E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9623117" y="2840355"/>
            <a:ext cx="28001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563EB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953625" y="2849880"/>
            <a:ext cx="59436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583430" y="4030980"/>
            <a:ext cx="302514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六步走，全面掌握小程序开发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Circle 3"/>
          <p:cNvSpPr/>
          <p:nvPr/>
        </p:nvSpPr>
        <p:spPr>
          <a:xfrm>
            <a:off x="9906000" y="4191000"/>
            <a:ext cx="3048000" cy="3048000"/>
          </a:xfrm>
          <a:prstGeom prst="ellipse">
            <a:avLst/>
          </a:prstGeom>
          <a:solidFill>
            <a:srgbClr val="DBEAFE">
              <a:alpha val="30000"/>
            </a:srgbClr>
          </a:solidFill>
        </p:spPr>
      </p:sp>
      <p:sp>
        <p:nvSpPr>
          <p:cNvPr id="4" name="Circle 4"/>
          <p:cNvSpPr/>
          <p:nvPr/>
        </p:nvSpPr>
        <p:spPr>
          <a:xfrm>
            <a:off x="190500" y="190500"/>
            <a:ext cx="1524000" cy="1524000"/>
          </a:xfrm>
          <a:prstGeom prst="ellipse">
            <a:avLst/>
          </a:prstGeom>
          <a:solidFill>
            <a:srgbClr val="DBEAFE">
              <a:alpha val="20000"/>
            </a:srgbClr>
          </a:solidFill>
        </p:spPr>
      </p:sp>
      <p:sp>
        <p:nvSpPr>
          <p:cNvPr id="5" name="Text 5"/>
          <p:cNvSpPr txBox="1"/>
          <p:nvPr/>
        </p:nvSpPr>
        <p:spPr>
          <a:xfrm>
            <a:off x="571500" y="687705"/>
            <a:ext cx="4519422" cy="46291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2700" b="1" dirty="0">
                <a:solidFill>
                  <a:srgbClr val="1E293B"/>
                </a:solidFill>
                <a:latin typeface="Microsoft YaHei"/>
                <a:ea typeface="Microsoft YaHei"/>
              </a:rPr>
              <a:t>什么是微信小程序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11049000" cy="952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</p:sp>
      <p:sp>
        <p:nvSpPr>
          <p:cNvPr id="7" name="Circle 7"/>
          <p:cNvSpPr/>
          <p:nvPr/>
        </p:nvSpPr>
        <p:spPr>
          <a:xfrm>
            <a:off x="704850" y="1657350"/>
            <a:ext cx="114300" cy="1143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8" name="Text 8"/>
          <p:cNvSpPr txBox="1"/>
          <p:nvPr/>
        </p:nvSpPr>
        <p:spPr>
          <a:xfrm>
            <a:off x="1047750" y="1591628"/>
            <a:ext cx="6175200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b="1" dirty="0">
                <a:solidFill>
                  <a:srgbClr val="000000"/>
                </a:solidFill>
                <a:latin typeface="Microsoft YaHei"/>
                <a:ea typeface="Microsoft YaHei"/>
              </a:rPr>
              <a:t>微信小程序</a:t>
            </a:r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：无需下载安装，即用即走的轻量级应用</a:t>
            </a:r>
          </a:p>
        </p:txBody>
      </p:sp>
      <p:sp>
        <p:nvSpPr>
          <p:cNvPr id="9" name="Circle 9"/>
          <p:cNvSpPr/>
          <p:nvPr/>
        </p:nvSpPr>
        <p:spPr>
          <a:xfrm>
            <a:off x="704850" y="2114550"/>
            <a:ext cx="114300" cy="1143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0" name="Text 10"/>
          <p:cNvSpPr txBox="1"/>
          <p:nvPr/>
        </p:nvSpPr>
        <p:spPr>
          <a:xfrm>
            <a:off x="1047750" y="2048828"/>
            <a:ext cx="5914168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运行在微信客户端内，拥有独立的</a:t>
            </a:r>
            <a:r>
              <a:rPr lang="en-US" sz="1350" b="1" dirty="0">
                <a:solidFill>
                  <a:srgbClr val="000000"/>
                </a:solidFill>
                <a:latin typeface="Microsoft YaHei"/>
                <a:ea typeface="Microsoft YaHei"/>
              </a:rPr>
              <a:t>渲染层</a:t>
            </a:r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和</a:t>
            </a:r>
            <a:r>
              <a:rPr lang="en-US" sz="1350" b="1" dirty="0">
                <a:solidFill>
                  <a:srgbClr val="000000"/>
                </a:solidFill>
                <a:latin typeface="Microsoft YaHei"/>
                <a:ea typeface="Microsoft YaHei"/>
              </a:rPr>
              <a:t>逻辑层</a:t>
            </a:r>
          </a:p>
        </p:txBody>
      </p:sp>
      <p:sp>
        <p:nvSpPr>
          <p:cNvPr id="11" name="Circle 11"/>
          <p:cNvSpPr/>
          <p:nvPr/>
        </p:nvSpPr>
        <p:spPr>
          <a:xfrm>
            <a:off x="704850" y="2571750"/>
            <a:ext cx="114300" cy="1143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12"/>
          <p:cNvSpPr txBox="1"/>
          <p:nvPr/>
        </p:nvSpPr>
        <p:spPr>
          <a:xfrm>
            <a:off x="1047750" y="2506028"/>
            <a:ext cx="6175200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优势：跨平台（iOS/Android）、流量红利、开发成本低</a:t>
            </a:r>
          </a:p>
        </p:txBody>
      </p:sp>
      <p:sp>
        <p:nvSpPr>
          <p:cNvPr id="13" name="Circle 13"/>
          <p:cNvSpPr/>
          <p:nvPr/>
        </p:nvSpPr>
        <p:spPr>
          <a:xfrm>
            <a:off x="704850" y="3028950"/>
            <a:ext cx="114300" cy="1143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4" name="Text 14"/>
          <p:cNvSpPr txBox="1"/>
          <p:nvPr/>
        </p:nvSpPr>
        <p:spPr>
          <a:xfrm>
            <a:off x="1047750" y="2963228"/>
            <a:ext cx="5305092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适用场景：低频工具、电商、内容展示、生活服务</a:t>
            </a:r>
          </a:p>
        </p:txBody>
      </p:sp>
      <p:sp>
        <p:nvSpPr>
          <p:cNvPr id="15" name="Path 15"/>
          <p:cNvSpPr/>
          <p:nvPr/>
        </p:nvSpPr>
        <p:spPr>
          <a:xfrm>
            <a:off x="8382000" y="1714500"/>
            <a:ext cx="1143000" cy="1143000"/>
          </a:xfrm>
          <a:custGeom>
            <a:avLst/>
            <a:gdLst/>
            <a:ahLst/>
            <a:cxnLst/>
            <a:rect l="0" t="0" r="0" b="0"/>
            <a:pathLst>
              <a:path w="1200000" h="1200000">
                <a:moveTo>
                  <a:pt x="160000" y="0"/>
                </a:moveTo>
                <a:lnTo>
                  <a:pt x="1040000" y="0"/>
                </a:lnTo>
                <a:cubicBezTo>
                  <a:pt x="1128366" y="0"/>
                  <a:pt x="1200000" y="71634"/>
                  <a:pt x="1200000" y="160000"/>
                </a:cubicBezTo>
                <a:lnTo>
                  <a:pt x="1200000" y="1040000"/>
                </a:lnTo>
                <a:cubicBezTo>
                  <a:pt x="1200000" y="1128366"/>
                  <a:pt x="1128366" y="1200000"/>
                  <a:pt x="1040000" y="1200000"/>
                </a:cubicBezTo>
                <a:lnTo>
                  <a:pt x="160000" y="1200000"/>
                </a:lnTo>
                <a:cubicBezTo>
                  <a:pt x="71634" y="1200000"/>
                  <a:pt x="0" y="1128366"/>
                  <a:pt x="0" y="1040000"/>
                </a:cubicBezTo>
                <a:lnTo>
                  <a:pt x="0" y="160000"/>
                </a:lnTo>
                <a:cubicBezTo>
                  <a:pt x="0" y="71634"/>
                  <a:pt x="71634" y="0"/>
                  <a:pt x="160000" y="0"/>
                </a:cubicBezTo>
                <a:close/>
              </a:path>
            </a:pathLst>
          </a:cu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435340" y="2983230"/>
            <a:ext cx="103632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无需安装</a:t>
            </a:r>
          </a:p>
        </p:txBody>
      </p:sp>
      <p:sp>
        <p:nvSpPr>
          <p:cNvPr id="17" name="Path 17"/>
          <p:cNvSpPr/>
          <p:nvPr/>
        </p:nvSpPr>
        <p:spPr>
          <a:xfrm>
            <a:off x="8382000" y="3238500"/>
            <a:ext cx="1143000" cy="1143000"/>
          </a:xfrm>
          <a:custGeom>
            <a:avLst/>
            <a:gdLst/>
            <a:ahLst/>
            <a:cxnLst/>
            <a:rect l="0" t="0" r="0" b="0"/>
            <a:pathLst>
              <a:path w="1200000" h="1200000">
                <a:moveTo>
                  <a:pt x="160000" y="0"/>
                </a:moveTo>
                <a:lnTo>
                  <a:pt x="1040000" y="0"/>
                </a:lnTo>
                <a:cubicBezTo>
                  <a:pt x="1128366" y="0"/>
                  <a:pt x="1200000" y="71634"/>
                  <a:pt x="1200000" y="160000"/>
                </a:cubicBezTo>
                <a:lnTo>
                  <a:pt x="1200000" y="1040000"/>
                </a:lnTo>
                <a:cubicBezTo>
                  <a:pt x="1200000" y="1128366"/>
                  <a:pt x="1128366" y="1200000"/>
                  <a:pt x="1040000" y="1200000"/>
                </a:cubicBezTo>
                <a:lnTo>
                  <a:pt x="160000" y="1200000"/>
                </a:lnTo>
                <a:cubicBezTo>
                  <a:pt x="71634" y="1200000"/>
                  <a:pt x="0" y="1128366"/>
                  <a:pt x="0" y="1040000"/>
                </a:cubicBezTo>
                <a:lnTo>
                  <a:pt x="0" y="160000"/>
                </a:lnTo>
                <a:cubicBezTo>
                  <a:pt x="0" y="71634"/>
                  <a:pt x="71634" y="0"/>
                  <a:pt x="160000" y="0"/>
                </a:cubicBezTo>
                <a:close/>
              </a:path>
            </a:pathLst>
          </a:cu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8435340" y="4507230"/>
            <a:ext cx="103632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即用即走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Circle 3"/>
          <p:cNvSpPr/>
          <p:nvPr/>
        </p:nvSpPr>
        <p:spPr>
          <a:xfrm>
            <a:off x="10096500" y="-381000"/>
            <a:ext cx="2667000" cy="2667000"/>
          </a:xfrm>
          <a:prstGeom prst="ellipse">
            <a:avLst/>
          </a:prstGeom>
          <a:solidFill>
            <a:srgbClr val="DBEAFE">
              <a:alpha val="35000"/>
            </a:srgbClr>
          </a:solidFill>
        </p:spPr>
      </p:sp>
      <p:sp>
        <p:nvSpPr>
          <p:cNvPr id="4" name="Circle 4"/>
          <p:cNvSpPr/>
          <p:nvPr/>
        </p:nvSpPr>
        <p:spPr>
          <a:xfrm>
            <a:off x="-190500" y="5524500"/>
            <a:ext cx="1905000" cy="1905000"/>
          </a:xfrm>
          <a:prstGeom prst="ellipse">
            <a:avLst/>
          </a:prstGeom>
          <a:solidFill>
            <a:srgbClr val="DBEAFE">
              <a:alpha val="20000"/>
            </a:srgbClr>
          </a:solidFill>
        </p:spPr>
      </p:sp>
      <p:sp>
        <p:nvSpPr>
          <p:cNvPr id="5" name="Text 5"/>
          <p:cNvSpPr txBox="1"/>
          <p:nvPr/>
        </p:nvSpPr>
        <p:spPr>
          <a:xfrm>
            <a:off x="762000" y="649605"/>
            <a:ext cx="3475292" cy="46291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2700" b="1" dirty="0">
                <a:solidFill>
                  <a:srgbClr val="1E293B"/>
                </a:solidFill>
                <a:latin typeface="Microsoft YaHei"/>
                <a:ea typeface="Microsoft YaHei"/>
              </a:rPr>
              <a:t>开发环境搭建</a:t>
            </a:r>
          </a:p>
        </p:txBody>
      </p:sp>
      <p:sp>
        <p:nvSpPr>
          <p:cNvPr id="6" name="Path 6"/>
          <p:cNvSpPr/>
          <p:nvPr/>
        </p:nvSpPr>
        <p:spPr>
          <a:xfrm>
            <a:off x="571500" y="781050"/>
            <a:ext cx="57150" cy="342900"/>
          </a:xfrm>
          <a:custGeom>
            <a:avLst/>
            <a:gdLst/>
            <a:ahLst/>
            <a:cxnLst/>
            <a:rect l="0" t="0" r="0" b="0"/>
            <a:pathLst>
              <a:path w="60000" h="360000">
                <a:moveTo>
                  <a:pt x="30000" y="0"/>
                </a:moveTo>
                <a:lnTo>
                  <a:pt x="30000" y="0"/>
                </a:lnTo>
                <a:cubicBezTo>
                  <a:pt x="46569" y="0"/>
                  <a:pt x="60000" y="13431"/>
                  <a:pt x="60000" y="30000"/>
                </a:cubicBezTo>
                <a:lnTo>
                  <a:pt x="60000" y="330000"/>
                </a:lnTo>
                <a:cubicBezTo>
                  <a:pt x="60000" y="346569"/>
                  <a:pt x="46569" y="360000"/>
                  <a:pt x="30000" y="360000"/>
                </a:cubicBezTo>
                <a:lnTo>
                  <a:pt x="30000" y="360000"/>
                </a:lnTo>
                <a:cubicBezTo>
                  <a:pt x="13431" y="360000"/>
                  <a:pt x="0" y="346569"/>
                  <a:pt x="0" y="330000"/>
                </a:cubicBezTo>
                <a:lnTo>
                  <a:pt x="0" y="30000"/>
                </a:lnTo>
                <a:cubicBezTo>
                  <a:pt x="0" y="13431"/>
                  <a:pt x="13431" y="0"/>
                  <a:pt x="30000" y="0"/>
                </a:cubicBezTo>
                <a:close/>
              </a:path>
            </a:pathLst>
          </a:custGeom>
          <a:solidFill>
            <a:srgbClr val="2563EB"/>
          </a:solidFill>
        </p:spPr>
      </p:sp>
      <p:sp>
        <p:nvSpPr>
          <p:cNvPr id="7" name="Text 7"/>
          <p:cNvSpPr txBox="1"/>
          <p:nvPr/>
        </p:nvSpPr>
        <p:spPr>
          <a:xfrm>
            <a:off x="1143000" y="1763078"/>
            <a:ext cx="5093779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注册微信小程序账号（mp.weixin.qq.com）</a:t>
            </a:r>
          </a:p>
        </p:txBody>
      </p:sp>
      <p:sp>
        <p:nvSpPr>
          <p:cNvPr id="8" name="Path 8"/>
          <p:cNvSpPr/>
          <p:nvPr/>
        </p:nvSpPr>
        <p:spPr>
          <a:xfrm>
            <a:off x="571500" y="1714500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360000" h="360000">
                <a:moveTo>
                  <a:pt x="180000" y="0"/>
                </a:moveTo>
                <a:lnTo>
                  <a:pt x="180000" y="0"/>
                </a:lnTo>
                <a:cubicBezTo>
                  <a:pt x="279411" y="0"/>
                  <a:pt x="360000" y="80589"/>
                  <a:pt x="360000" y="180000"/>
                </a:cubicBezTo>
                <a:lnTo>
                  <a:pt x="360000" y="180000"/>
                </a:lnTo>
                <a:cubicBezTo>
                  <a:pt x="360000" y="279411"/>
                  <a:pt x="279411" y="360000"/>
                  <a:pt x="180000" y="360000"/>
                </a:cubicBezTo>
                <a:lnTo>
                  <a:pt x="180000" y="360000"/>
                </a:lnTo>
                <a:cubicBezTo>
                  <a:pt x="80589" y="360000"/>
                  <a:pt x="0" y="279411"/>
                  <a:pt x="0" y="180000"/>
                </a:cubicBezTo>
                <a:lnTo>
                  <a:pt x="0" y="180000"/>
                </a:ln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9" name="Text 9"/>
          <p:cNvSpPr txBox="1"/>
          <p:nvPr/>
        </p:nvSpPr>
        <p:spPr>
          <a:xfrm>
            <a:off x="585441" y="1763078"/>
            <a:ext cx="315018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143000" y="2429828"/>
            <a:ext cx="4073888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下载</a:t>
            </a:r>
            <a:r>
              <a:rPr lang="en-US" sz="1350" b="1" dirty="0">
                <a:solidFill>
                  <a:srgbClr val="000000"/>
                </a:solidFill>
                <a:latin typeface="Microsoft YaHei"/>
                <a:ea typeface="Microsoft YaHei"/>
              </a:rPr>
              <a:t>微信开发者工具</a:t>
            </a:r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（官方 IDE）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143000" y="2697480"/>
            <a:ext cx="2130171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支持 Windows / Mac</a:t>
            </a:r>
          </a:p>
        </p:txBody>
      </p:sp>
      <p:sp>
        <p:nvSpPr>
          <p:cNvPr id="12" name="Path 12"/>
          <p:cNvSpPr/>
          <p:nvPr/>
        </p:nvSpPr>
        <p:spPr>
          <a:xfrm>
            <a:off x="571500" y="2381250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360000" h="360000">
                <a:moveTo>
                  <a:pt x="180000" y="0"/>
                </a:moveTo>
                <a:lnTo>
                  <a:pt x="180000" y="0"/>
                </a:lnTo>
                <a:cubicBezTo>
                  <a:pt x="279411" y="0"/>
                  <a:pt x="360000" y="80589"/>
                  <a:pt x="360000" y="180000"/>
                </a:cubicBezTo>
                <a:lnTo>
                  <a:pt x="360000" y="180000"/>
                </a:lnTo>
                <a:cubicBezTo>
                  <a:pt x="360000" y="279411"/>
                  <a:pt x="279411" y="360000"/>
                  <a:pt x="180000" y="360000"/>
                </a:cubicBezTo>
                <a:lnTo>
                  <a:pt x="180000" y="360000"/>
                </a:lnTo>
                <a:cubicBezTo>
                  <a:pt x="80589" y="360000"/>
                  <a:pt x="0" y="279411"/>
                  <a:pt x="0" y="180000"/>
                </a:cubicBezTo>
                <a:lnTo>
                  <a:pt x="0" y="180000"/>
                </a:ln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3" name="Text 13"/>
          <p:cNvSpPr txBox="1"/>
          <p:nvPr/>
        </p:nvSpPr>
        <p:spPr>
          <a:xfrm>
            <a:off x="585441" y="2429828"/>
            <a:ext cx="315018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143000" y="3191828"/>
            <a:ext cx="4830882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创建第一个项目：</a:t>
            </a:r>
            <a:r>
              <a:rPr lang="en-US" sz="1350" b="1" dirty="0">
                <a:solidFill>
                  <a:srgbClr val="000000"/>
                </a:solidFill>
                <a:latin typeface="Microsoft YaHei"/>
                <a:ea typeface="Microsoft YaHei"/>
              </a:rPr>
              <a:t>AppID</a:t>
            </a:r>
            <a:r>
              <a:rPr lang="en-US" sz="1350" dirty="0">
                <a:solidFill>
                  <a:srgbClr val="1E293B"/>
                </a:solidFill>
                <a:latin typeface="Microsoft YaHei"/>
                <a:ea typeface="Microsoft YaHei"/>
              </a:rPr>
              <a:t>、项目名称、目录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143000" y="3459480"/>
            <a:ext cx="147828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可使用测试号</a:t>
            </a:r>
          </a:p>
        </p:txBody>
      </p:sp>
      <p:sp>
        <p:nvSpPr>
          <p:cNvPr id="16" name="Path 16"/>
          <p:cNvSpPr/>
          <p:nvPr/>
        </p:nvSpPr>
        <p:spPr>
          <a:xfrm>
            <a:off x="571500" y="3143250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360000" h="360000">
                <a:moveTo>
                  <a:pt x="180000" y="0"/>
                </a:moveTo>
                <a:lnTo>
                  <a:pt x="180000" y="0"/>
                </a:lnTo>
                <a:cubicBezTo>
                  <a:pt x="279411" y="0"/>
                  <a:pt x="360000" y="80589"/>
                  <a:pt x="360000" y="180000"/>
                </a:cubicBezTo>
                <a:lnTo>
                  <a:pt x="360000" y="180000"/>
                </a:lnTo>
                <a:cubicBezTo>
                  <a:pt x="360000" y="279411"/>
                  <a:pt x="279411" y="360000"/>
                  <a:pt x="180000" y="360000"/>
                </a:cubicBezTo>
                <a:lnTo>
                  <a:pt x="180000" y="360000"/>
                </a:lnTo>
                <a:cubicBezTo>
                  <a:pt x="80589" y="360000"/>
                  <a:pt x="0" y="279411"/>
                  <a:pt x="0" y="180000"/>
                </a:cubicBezTo>
                <a:lnTo>
                  <a:pt x="0" y="180000"/>
                </a:ln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7" name="Text 17"/>
          <p:cNvSpPr txBox="1"/>
          <p:nvPr/>
        </p:nvSpPr>
        <p:spPr>
          <a:xfrm>
            <a:off x="585441" y="3191828"/>
            <a:ext cx="315018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8" name="Path 18"/>
          <p:cNvSpPr/>
          <p:nvPr/>
        </p:nvSpPr>
        <p:spPr>
          <a:xfrm>
            <a:off x="6477000" y="1714500"/>
            <a:ext cx="4953000" cy="4000500"/>
          </a:xfrm>
          <a:custGeom>
            <a:avLst/>
            <a:gdLst/>
            <a:ahLst/>
            <a:cxnLst/>
            <a:rect l="0" t="0" r="0" b="0"/>
            <a:pathLst>
              <a:path w="5200000" h="4200000">
                <a:moveTo>
                  <a:pt x="80000" y="0"/>
                </a:moveTo>
                <a:lnTo>
                  <a:pt x="5120000" y="0"/>
                </a:lnTo>
                <a:cubicBezTo>
                  <a:pt x="5164183" y="0"/>
                  <a:pt x="5200000" y="35817"/>
                  <a:pt x="5200000" y="80000"/>
                </a:cubicBezTo>
                <a:lnTo>
                  <a:pt x="5200000" y="4120000"/>
                </a:lnTo>
                <a:cubicBezTo>
                  <a:pt x="5200000" y="4164183"/>
                  <a:pt x="5164183" y="4200000"/>
                  <a:pt x="5120000" y="4200000"/>
                </a:cubicBezTo>
                <a:lnTo>
                  <a:pt x="80000" y="4200000"/>
                </a:lnTo>
                <a:cubicBezTo>
                  <a:pt x="35817" y="4200000"/>
                  <a:pt x="0" y="4164183"/>
                  <a:pt x="0" y="4120000"/>
                </a:cubicBezTo>
                <a:lnTo>
                  <a:pt x="0" y="80000"/>
                </a:lnTo>
                <a:cubicBezTo>
                  <a:pt x="0" y="35817"/>
                  <a:pt x="35817" y="0"/>
                  <a:pt x="80000" y="0"/>
                </a:cubicBezTo>
                <a:close/>
              </a:path>
            </a:pathLst>
          </a:custGeom>
          <a:solidFill>
            <a:srgbClr val="F8FAFC"/>
          </a:solidFill>
          <a:ln w="19050">
            <a:solidFill>
              <a:srgbClr val="E2E8F0"/>
            </a:solidFill>
          </a:ln>
        </p:spPr>
      </p:sp>
      <p:sp>
        <p:nvSpPr>
          <p:cNvPr id="19" name="Path 19"/>
          <p:cNvSpPr/>
          <p:nvPr/>
        </p:nvSpPr>
        <p:spPr>
          <a:xfrm>
            <a:off x="6477000" y="1714500"/>
            <a:ext cx="4953000" cy="342900"/>
          </a:xfrm>
          <a:custGeom>
            <a:avLst/>
            <a:gdLst/>
            <a:ahLst/>
            <a:cxnLst/>
            <a:rect l="0" t="0" r="0" b="0"/>
            <a:pathLst>
              <a:path w="5200000" h="360000">
                <a:moveTo>
                  <a:pt x="80000" y="0"/>
                </a:moveTo>
                <a:lnTo>
                  <a:pt x="5120000" y="0"/>
                </a:lnTo>
                <a:cubicBezTo>
                  <a:pt x="5164183" y="0"/>
                  <a:pt x="5200000" y="35817"/>
                  <a:pt x="5200000" y="80000"/>
                </a:cubicBezTo>
                <a:lnTo>
                  <a:pt x="5200000" y="280000"/>
                </a:lnTo>
                <a:cubicBezTo>
                  <a:pt x="5200000" y="324183"/>
                  <a:pt x="5164183" y="360000"/>
                  <a:pt x="5120000" y="360000"/>
                </a:cubicBezTo>
                <a:lnTo>
                  <a:pt x="80000" y="360000"/>
                </a:lnTo>
                <a:cubicBezTo>
                  <a:pt x="35817" y="360000"/>
                  <a:pt x="0" y="324183"/>
                  <a:pt x="0" y="280000"/>
                </a:cubicBezTo>
                <a:lnTo>
                  <a:pt x="0" y="80000"/>
                </a:lnTo>
                <a:cubicBezTo>
                  <a:pt x="0" y="35817"/>
                  <a:pt x="35817" y="0"/>
                  <a:pt x="80000" y="0"/>
                </a:cubicBezTo>
                <a:close/>
              </a:path>
            </a:pathLst>
          </a:custGeom>
          <a:solidFill>
            <a:srgbClr val="E2E8F0"/>
          </a:solidFill>
        </p:spPr>
      </p:sp>
      <p:sp>
        <p:nvSpPr>
          <p:cNvPr id="20" name="Rect 20"/>
          <p:cNvSpPr/>
          <p:nvPr/>
        </p:nvSpPr>
        <p:spPr>
          <a:xfrm>
            <a:off x="6477000" y="1981200"/>
            <a:ext cx="4953000" cy="76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Circle 21"/>
          <p:cNvSpPr/>
          <p:nvPr/>
        </p:nvSpPr>
        <p:spPr>
          <a:xfrm>
            <a:off x="6581775" y="1838325"/>
            <a:ext cx="95250" cy="9525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2" name="Circle 22"/>
          <p:cNvSpPr/>
          <p:nvPr/>
        </p:nvSpPr>
        <p:spPr>
          <a:xfrm>
            <a:off x="6753225" y="1838325"/>
            <a:ext cx="95250" cy="9525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Circle 23"/>
          <p:cNvSpPr/>
          <p:nvPr/>
        </p:nvSpPr>
        <p:spPr>
          <a:xfrm>
            <a:off x="6924675" y="1838325"/>
            <a:ext cx="95250" cy="95250"/>
          </a:xfrm>
          <a:prstGeom prst="ellipse">
            <a:avLst/>
          </a:prstGeom>
          <a:solidFill>
            <a:srgbClr val="E2E8F0"/>
          </a:solidFill>
        </p:spPr>
      </p:sp>
      <p:sp>
        <p:nvSpPr>
          <p:cNvPr id="24" name="Text 24"/>
          <p:cNvSpPr txBox="1"/>
          <p:nvPr/>
        </p:nvSpPr>
        <p:spPr>
          <a:xfrm>
            <a:off x="7890617" y="1803559"/>
            <a:ext cx="2125766" cy="167164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975" dirty="0">
                <a:solidFill>
                  <a:srgbClr val="64748B"/>
                </a:solidFill>
                <a:latin typeface="Microsoft YaHei"/>
                <a:ea typeface="Microsoft YaHei"/>
              </a:rPr>
              <a:t>微信开发者工具 - 模拟器</a:t>
            </a:r>
          </a:p>
        </p:txBody>
      </p:sp>
      <p:sp>
        <p:nvSpPr>
          <p:cNvPr id="25" name="Rect 25"/>
          <p:cNvSpPr/>
          <p:nvPr/>
        </p:nvSpPr>
        <p:spPr>
          <a:xfrm>
            <a:off x="6477000" y="2057400"/>
            <a:ext cx="4953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6591300" y="2108835"/>
            <a:ext cx="2351722" cy="15430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icrosoft YaHei"/>
                <a:ea typeface="Microsoft YaHei"/>
              </a:rPr>
              <a:t>文件 编辑 选择 视图 工具 项目</a:t>
            </a:r>
          </a:p>
        </p:txBody>
      </p:sp>
      <p:sp>
        <p:nvSpPr>
          <p:cNvPr id="27" name="Rect 27"/>
          <p:cNvSpPr/>
          <p:nvPr/>
        </p:nvSpPr>
        <p:spPr>
          <a:xfrm>
            <a:off x="6477000" y="2324100"/>
            <a:ext cx="1524000" cy="33909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6572250" y="2403634"/>
            <a:ext cx="877919" cy="167164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975" b="1" dirty="0">
                <a:solidFill>
                  <a:srgbClr val="1E293B"/>
                </a:solidFill>
                <a:latin typeface="Microsoft YaHei"/>
                <a:ea typeface="Microsoft YaHei"/>
              </a:rPr>
              <a:t>项目文件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572250" y="2671286"/>
            <a:ext cx="1153049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📁 miniprogram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6724650" y="2861786"/>
            <a:ext cx="65170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📁 pages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877050" y="3052286"/>
            <a:ext cx="65170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📁 index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7029450" y="3242786"/>
            <a:ext cx="106949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64748B"/>
                </a:solidFill>
                <a:latin typeface="Courier New"/>
                <a:ea typeface="Courier New"/>
              </a:rPr>
              <a:t>📄 index.wxml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029450" y="3433286"/>
            <a:ext cx="106949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64748B"/>
                </a:solidFill>
                <a:latin typeface="Courier New"/>
                <a:ea typeface="Courier New"/>
              </a:rPr>
              <a:t>📄 index.wxss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7029450" y="3623786"/>
            <a:ext cx="902375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64748B"/>
                </a:solidFill>
                <a:latin typeface="Courier New"/>
                <a:ea typeface="Courier New"/>
              </a:rPr>
              <a:t>📄 index.js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029450" y="3814286"/>
            <a:ext cx="106949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64748B"/>
                </a:solidFill>
                <a:latin typeface="Courier New"/>
                <a:ea typeface="Courier New"/>
              </a:rPr>
              <a:t>📄 index.json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724650" y="4042886"/>
            <a:ext cx="735259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📄 app.js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724650" y="4233386"/>
            <a:ext cx="902375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📄 app.json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724650" y="4423886"/>
            <a:ext cx="902375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📄 app.wxss</a:t>
            </a:r>
          </a:p>
        </p:txBody>
      </p:sp>
      <p:sp>
        <p:nvSpPr>
          <p:cNvPr id="39" name="Rect 39"/>
          <p:cNvSpPr/>
          <p:nvPr/>
        </p:nvSpPr>
        <p:spPr>
          <a:xfrm>
            <a:off x="8001000" y="2324100"/>
            <a:ext cx="1905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8096250" y="2413635"/>
            <a:ext cx="843534" cy="15430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rial"/>
                <a:ea typeface="Arial"/>
              </a:rPr>
              <a:t>index.js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096250" y="2671286"/>
            <a:ext cx="606123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Page({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8096250" y="2861786"/>
            <a:ext cx="65170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data: {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8248650" y="3052286"/>
            <a:ext cx="106949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2563EB"/>
                </a:solidFill>
                <a:latin typeface="Courier New"/>
                <a:ea typeface="Courier New"/>
              </a:rPr>
              <a:t>msg: 'Hello'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096250" y="3242786"/>
            <a:ext cx="27189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},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8096250" y="3433286"/>
            <a:ext cx="902375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onLoad() {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8248650" y="3623786"/>
            <a:ext cx="1859494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console.log('loaded')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8096250" y="3814286"/>
            <a:ext cx="228600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}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8096250" y="4004786"/>
            <a:ext cx="27189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825" dirty="0">
                <a:solidFill>
                  <a:srgbClr val="1E293B"/>
                </a:solidFill>
                <a:latin typeface="Courier New"/>
                <a:ea typeface="Courier New"/>
              </a:rPr>
              <a:t>})</a:t>
            </a:r>
          </a:p>
        </p:txBody>
      </p:sp>
      <p:sp>
        <p:nvSpPr>
          <p:cNvPr id="49" name="Rect 49"/>
          <p:cNvSpPr/>
          <p:nvPr/>
        </p:nvSpPr>
        <p:spPr>
          <a:xfrm>
            <a:off x="9906000" y="2324100"/>
            <a:ext cx="1524000" cy="33909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10196512" y="2413635"/>
            <a:ext cx="942975" cy="15430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Microsoft YaHei"/>
                <a:ea typeface="Microsoft YaHei"/>
              </a:rPr>
              <a:t>模拟器预览</a:t>
            </a:r>
          </a:p>
        </p:txBody>
      </p:sp>
      <p:sp>
        <p:nvSpPr>
          <p:cNvPr id="51" name="Path 51"/>
          <p:cNvSpPr/>
          <p:nvPr/>
        </p:nvSpPr>
        <p:spPr>
          <a:xfrm>
            <a:off x="10191750" y="2762250"/>
            <a:ext cx="952500" cy="1714500"/>
          </a:xfrm>
          <a:custGeom>
            <a:avLst/>
            <a:gdLst/>
            <a:ahLst/>
            <a:cxnLst/>
            <a:rect l="0" t="0" r="0" b="0"/>
            <a:pathLst>
              <a:path w="1000000" h="1800000">
                <a:moveTo>
                  <a:pt x="120000" y="0"/>
                </a:moveTo>
                <a:lnTo>
                  <a:pt x="880000" y="0"/>
                </a:lnTo>
                <a:cubicBezTo>
                  <a:pt x="946274" y="0"/>
                  <a:pt x="1000000" y="53726"/>
                  <a:pt x="1000000" y="120000"/>
                </a:cubicBezTo>
                <a:lnTo>
                  <a:pt x="1000000" y="1680000"/>
                </a:lnTo>
                <a:cubicBezTo>
                  <a:pt x="1000000" y="1746274"/>
                  <a:pt x="946274" y="1800000"/>
                  <a:pt x="880000" y="1800000"/>
                </a:cubicBezTo>
                <a:lnTo>
                  <a:pt x="120000" y="1800000"/>
                </a:lnTo>
                <a:cubicBezTo>
                  <a:pt x="53726" y="1800000"/>
                  <a:pt x="0" y="1746274"/>
                  <a:pt x="0" y="1680000"/>
                </a:cubicBezTo>
                <a:lnTo>
                  <a:pt x="0" y="120000"/>
                </a:lnTo>
                <a:cubicBezTo>
                  <a:pt x="0" y="53726"/>
                  <a:pt x="53726" y="0"/>
                  <a:pt x="1200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52" name="Path 52"/>
          <p:cNvSpPr/>
          <p:nvPr/>
        </p:nvSpPr>
        <p:spPr>
          <a:xfrm>
            <a:off x="10191750" y="2762250"/>
            <a:ext cx="952500" cy="190500"/>
          </a:xfrm>
          <a:custGeom>
            <a:avLst/>
            <a:gdLst/>
            <a:ahLst/>
            <a:cxnLst/>
            <a:rect l="0" t="0" r="0" b="0"/>
            <a:pathLst>
              <a:path w="1000000" h="200000">
                <a:moveTo>
                  <a:pt x="120000" y="0"/>
                </a:moveTo>
                <a:lnTo>
                  <a:pt x="880000" y="0"/>
                </a:lnTo>
                <a:cubicBezTo>
                  <a:pt x="946274" y="0"/>
                  <a:pt x="1000000" y="44772"/>
                  <a:pt x="1000000" y="100000"/>
                </a:cubicBezTo>
                <a:lnTo>
                  <a:pt x="1000000" y="100000"/>
                </a:lnTo>
                <a:cubicBezTo>
                  <a:pt x="1000000" y="155228"/>
                  <a:pt x="946274" y="200000"/>
                  <a:pt x="880000" y="200000"/>
                </a:cubicBezTo>
                <a:lnTo>
                  <a:pt x="120000" y="200000"/>
                </a:lnTo>
                <a:cubicBezTo>
                  <a:pt x="53726" y="200000"/>
                  <a:pt x="0" y="155228"/>
                  <a:pt x="0" y="100000"/>
                </a:cubicBezTo>
                <a:lnTo>
                  <a:pt x="0" y="100000"/>
                </a:lnTo>
                <a:cubicBezTo>
                  <a:pt x="0" y="44772"/>
                  <a:pt x="53726" y="0"/>
                  <a:pt x="120000" y="0"/>
                </a:cubicBezTo>
                <a:close/>
              </a:path>
            </a:pathLst>
          </a:custGeom>
          <a:solidFill>
            <a:srgbClr val="E2E8F0"/>
          </a:solidFill>
        </p:spPr>
      </p:sp>
      <p:sp>
        <p:nvSpPr>
          <p:cNvPr id="53" name="Rect 53"/>
          <p:cNvSpPr/>
          <p:nvPr/>
        </p:nvSpPr>
        <p:spPr>
          <a:xfrm>
            <a:off x="10191750" y="2876550"/>
            <a:ext cx="952500" cy="76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4"/>
          <p:cNvSpPr txBox="1"/>
          <p:nvPr/>
        </p:nvSpPr>
        <p:spPr>
          <a:xfrm>
            <a:off x="10448496" y="2804636"/>
            <a:ext cx="439007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825" dirty="0">
                <a:solidFill>
                  <a:srgbClr val="64748B"/>
                </a:solidFill>
                <a:latin typeface="Arial"/>
                <a:ea typeface="Arial"/>
              </a:rPr>
              <a:t>9:41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0406717" y="3128486"/>
            <a:ext cx="522565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825" dirty="0">
                <a:solidFill>
                  <a:srgbClr val="1E293B"/>
                </a:solidFill>
                <a:latin typeface="Arial"/>
                <a:ea typeface="Arial"/>
              </a:rPr>
              <a:t>Hello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0083879" y="3318986"/>
            <a:ext cx="1168241" cy="141446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825" dirty="0">
                <a:solidFill>
                  <a:srgbClr val="64748B"/>
                </a:solidFill>
                <a:latin typeface="Microsoft YaHei"/>
                <a:ea typeface="Microsoft YaHei"/>
              </a:rPr>
              <a:t>这是一个小程序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571500" y="6336982"/>
            <a:ext cx="1950911" cy="180023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</a:rPr>
              <a:t>4 / 8 · 开发环境搭建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Circle 3"/>
          <p:cNvSpPr/>
          <p:nvPr/>
        </p:nvSpPr>
        <p:spPr>
          <a:xfrm>
            <a:off x="9048750" y="-476250"/>
            <a:ext cx="2857500" cy="2857500"/>
          </a:xfrm>
          <a:prstGeom prst="ellipse">
            <a:avLst/>
          </a:prstGeom>
          <a:solidFill>
            <a:srgbClr val="DBEAFE">
              <a:alpha val="35000"/>
            </a:srgbClr>
          </a:solidFill>
        </p:spPr>
      </p:sp>
      <p:sp>
        <p:nvSpPr>
          <p:cNvPr id="4" name="Circle 4"/>
          <p:cNvSpPr/>
          <p:nvPr/>
        </p:nvSpPr>
        <p:spPr>
          <a:xfrm>
            <a:off x="-381000" y="5048250"/>
            <a:ext cx="2286000" cy="2286000"/>
          </a:xfrm>
          <a:prstGeom prst="ellipse">
            <a:avLst/>
          </a:prstGeom>
          <a:solidFill>
            <a:srgbClr val="DBEAFE">
              <a:alpha val="20000"/>
            </a:srgbClr>
          </a:solidFill>
        </p:spPr>
      </p:sp>
      <p:sp>
        <p:nvSpPr>
          <p:cNvPr id="5" name="Text 5"/>
          <p:cNvSpPr txBox="1"/>
          <p:nvPr/>
        </p:nvSpPr>
        <p:spPr>
          <a:xfrm>
            <a:off x="571500" y="687705"/>
            <a:ext cx="5041487" cy="46291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2700" b="1" dirty="0">
                <a:solidFill>
                  <a:srgbClr val="1E293B"/>
                </a:solidFill>
                <a:latin typeface="Microsoft YaHei"/>
                <a:ea typeface="Microsoft YaHei"/>
              </a:rPr>
              <a:t>项目结构与核心文件</a:t>
            </a:r>
          </a:p>
        </p:txBody>
      </p:sp>
      <p:sp>
        <p:nvSpPr>
          <p:cNvPr id="6" name="Path 6"/>
          <p:cNvSpPr/>
          <p:nvPr/>
        </p:nvSpPr>
        <p:spPr>
          <a:xfrm>
            <a:off x="571500" y="1524000"/>
            <a:ext cx="4953000" cy="4191000"/>
          </a:xfrm>
          <a:custGeom>
            <a:avLst/>
            <a:gdLst/>
            <a:ahLst/>
            <a:cxnLst/>
            <a:rect l="0" t="0" r="0" b="0"/>
            <a:pathLst>
              <a:path w="5200000" h="4400000">
                <a:moveTo>
                  <a:pt x="120000" y="0"/>
                </a:moveTo>
                <a:lnTo>
                  <a:pt x="5080000" y="0"/>
                </a:lnTo>
                <a:cubicBezTo>
                  <a:pt x="5146274" y="0"/>
                  <a:pt x="5200000" y="53726"/>
                  <a:pt x="5200000" y="120000"/>
                </a:cubicBezTo>
                <a:lnTo>
                  <a:pt x="5200000" y="4280000"/>
                </a:lnTo>
                <a:cubicBezTo>
                  <a:pt x="5200000" y="4346274"/>
                  <a:pt x="5146274" y="4400000"/>
                  <a:pt x="5080000" y="4400000"/>
                </a:cubicBezTo>
                <a:lnTo>
                  <a:pt x="120000" y="4400000"/>
                </a:lnTo>
                <a:cubicBezTo>
                  <a:pt x="53726" y="4400000"/>
                  <a:pt x="0" y="4346274"/>
                  <a:pt x="0" y="4280000"/>
                </a:cubicBezTo>
                <a:lnTo>
                  <a:pt x="0" y="120000"/>
                </a:lnTo>
                <a:cubicBezTo>
                  <a:pt x="0" y="53726"/>
                  <a:pt x="53726" y="0"/>
                  <a:pt x="120000" y="0"/>
                </a:cubicBezTo>
                <a:close/>
              </a:path>
            </a:pathLst>
          </a:custGeom>
          <a:solidFill>
            <a:srgbClr val="F8FAFC"/>
          </a:solidFill>
          <a:ln w="19050">
            <a:solidFill>
              <a:srgbClr val="E2E8F0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62000" y="1677352"/>
            <a:ext cx="1737646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Microsoft YaHei"/>
                <a:ea typeface="Microsoft YaHei"/>
              </a:rPr>
              <a:t>项目文件结构</a:t>
            </a:r>
          </a:p>
        </p:txBody>
      </p:sp>
      <p:sp>
        <p:nvSpPr>
          <p:cNvPr id="8" name="Line 8"/>
          <p:cNvSpPr/>
          <p:nvPr/>
        </p:nvSpPr>
        <p:spPr>
          <a:xfrm>
            <a:off x="762000" y="2095500"/>
            <a:ext cx="952" cy="3333750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9" name="Line 9"/>
          <p:cNvSpPr/>
          <p:nvPr/>
        </p:nvSpPr>
        <p:spPr>
          <a:xfrm>
            <a:off x="762000" y="2095500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10" name="Circle 10"/>
          <p:cNvSpPr/>
          <p:nvPr/>
        </p:nvSpPr>
        <p:spPr>
          <a:xfrm>
            <a:off x="728662" y="2062162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11" name="Text 11"/>
          <p:cNvSpPr txBox="1"/>
          <p:nvPr/>
        </p:nvSpPr>
        <p:spPr>
          <a:xfrm>
            <a:off x="1047750" y="1983105"/>
            <a:ext cx="1683791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b="1" dirty="0">
                <a:solidFill>
                  <a:srgbClr val="1E293B"/>
                </a:solidFill>
                <a:latin typeface="Courier New"/>
                <a:ea typeface="Courier New"/>
              </a:rPr>
              <a:t>miniprogram/</a:t>
            </a:r>
          </a:p>
        </p:txBody>
      </p:sp>
      <p:sp>
        <p:nvSpPr>
          <p:cNvPr id="12" name="Line 12"/>
          <p:cNvSpPr/>
          <p:nvPr/>
        </p:nvSpPr>
        <p:spPr>
          <a:xfrm>
            <a:off x="952500" y="2428875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13" name="Circle 13"/>
          <p:cNvSpPr/>
          <p:nvPr/>
        </p:nvSpPr>
        <p:spPr>
          <a:xfrm>
            <a:off x="919162" y="2395538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14" name="Text 14"/>
          <p:cNvSpPr txBox="1"/>
          <p:nvPr/>
        </p:nvSpPr>
        <p:spPr>
          <a:xfrm>
            <a:off x="1238250" y="2316480"/>
            <a:ext cx="91809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b="1" dirty="0">
                <a:solidFill>
                  <a:srgbClr val="1E293B"/>
                </a:solidFill>
                <a:latin typeface="Courier New"/>
                <a:ea typeface="Courier New"/>
              </a:rPr>
              <a:t>pages/</a:t>
            </a:r>
          </a:p>
        </p:txBody>
      </p:sp>
      <p:sp>
        <p:nvSpPr>
          <p:cNvPr id="15" name="Line 15"/>
          <p:cNvSpPr/>
          <p:nvPr/>
        </p:nvSpPr>
        <p:spPr>
          <a:xfrm>
            <a:off x="1143000" y="2762250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16" name="Circle 16"/>
          <p:cNvSpPr/>
          <p:nvPr/>
        </p:nvSpPr>
        <p:spPr>
          <a:xfrm>
            <a:off x="1109662" y="2728912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17" name="Text 17"/>
          <p:cNvSpPr txBox="1"/>
          <p:nvPr/>
        </p:nvSpPr>
        <p:spPr>
          <a:xfrm>
            <a:off x="1428750" y="2649855"/>
            <a:ext cx="91809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b="1" dirty="0">
                <a:solidFill>
                  <a:srgbClr val="1E293B"/>
                </a:solidFill>
                <a:latin typeface="Courier New"/>
                <a:ea typeface="Courier New"/>
              </a:rPr>
              <a:t>index/</a:t>
            </a:r>
          </a:p>
        </p:txBody>
      </p:sp>
      <p:sp>
        <p:nvSpPr>
          <p:cNvPr id="18" name="Line 18"/>
          <p:cNvSpPr/>
          <p:nvPr/>
        </p:nvSpPr>
        <p:spPr>
          <a:xfrm>
            <a:off x="1333500" y="3095625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19" name="Circle 19"/>
          <p:cNvSpPr/>
          <p:nvPr/>
        </p:nvSpPr>
        <p:spPr>
          <a:xfrm>
            <a:off x="1300162" y="3062288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20" name="Text 20"/>
          <p:cNvSpPr txBox="1"/>
          <p:nvPr/>
        </p:nvSpPr>
        <p:spPr>
          <a:xfrm>
            <a:off x="1619250" y="2983230"/>
            <a:ext cx="136779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Courier New"/>
                <a:ea typeface="Courier New"/>
              </a:rPr>
              <a:t>index.wxml</a:t>
            </a:r>
          </a:p>
        </p:txBody>
      </p:sp>
      <p:sp>
        <p:nvSpPr>
          <p:cNvPr id="21" name="Line 21"/>
          <p:cNvSpPr/>
          <p:nvPr/>
        </p:nvSpPr>
        <p:spPr>
          <a:xfrm>
            <a:off x="1333500" y="3429000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22" name="Circle 22"/>
          <p:cNvSpPr/>
          <p:nvPr/>
        </p:nvSpPr>
        <p:spPr>
          <a:xfrm>
            <a:off x="1300162" y="3395662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23" name="Text 23"/>
          <p:cNvSpPr txBox="1"/>
          <p:nvPr/>
        </p:nvSpPr>
        <p:spPr>
          <a:xfrm>
            <a:off x="1619250" y="3316605"/>
            <a:ext cx="136779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Courier New"/>
                <a:ea typeface="Courier New"/>
              </a:rPr>
              <a:t>index.wxss</a:t>
            </a:r>
          </a:p>
        </p:txBody>
      </p:sp>
      <p:sp>
        <p:nvSpPr>
          <p:cNvPr id="24" name="Line 24"/>
          <p:cNvSpPr/>
          <p:nvPr/>
        </p:nvSpPr>
        <p:spPr>
          <a:xfrm>
            <a:off x="1333500" y="3762375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25" name="Circle 25"/>
          <p:cNvSpPr/>
          <p:nvPr/>
        </p:nvSpPr>
        <p:spPr>
          <a:xfrm>
            <a:off x="1300162" y="3729038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26" name="Text 26"/>
          <p:cNvSpPr txBox="1"/>
          <p:nvPr/>
        </p:nvSpPr>
        <p:spPr>
          <a:xfrm>
            <a:off x="1619250" y="3649980"/>
            <a:ext cx="1124712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Courier New"/>
                <a:ea typeface="Courier New"/>
              </a:rPr>
              <a:t>index.js</a:t>
            </a:r>
          </a:p>
        </p:txBody>
      </p:sp>
      <p:sp>
        <p:nvSpPr>
          <p:cNvPr id="27" name="Line 27"/>
          <p:cNvSpPr/>
          <p:nvPr/>
        </p:nvSpPr>
        <p:spPr>
          <a:xfrm>
            <a:off x="1333500" y="4095750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28" name="Circle 28"/>
          <p:cNvSpPr/>
          <p:nvPr/>
        </p:nvSpPr>
        <p:spPr>
          <a:xfrm>
            <a:off x="1300162" y="4062412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29" name="Text 29"/>
          <p:cNvSpPr txBox="1"/>
          <p:nvPr/>
        </p:nvSpPr>
        <p:spPr>
          <a:xfrm>
            <a:off x="1619250" y="3983355"/>
            <a:ext cx="136779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Courier New"/>
                <a:ea typeface="Courier New"/>
              </a:rPr>
              <a:t>index.json</a:t>
            </a:r>
          </a:p>
        </p:txBody>
      </p:sp>
      <p:sp>
        <p:nvSpPr>
          <p:cNvPr id="30" name="Line 30"/>
          <p:cNvSpPr/>
          <p:nvPr/>
        </p:nvSpPr>
        <p:spPr>
          <a:xfrm>
            <a:off x="762000" y="4429125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31" name="Circle 31"/>
          <p:cNvSpPr/>
          <p:nvPr/>
        </p:nvSpPr>
        <p:spPr>
          <a:xfrm>
            <a:off x="728662" y="4395788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32" name="Text 32"/>
          <p:cNvSpPr txBox="1"/>
          <p:nvPr/>
        </p:nvSpPr>
        <p:spPr>
          <a:xfrm>
            <a:off x="1047750" y="4316730"/>
            <a:ext cx="881634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Courier New"/>
                <a:ea typeface="Courier New"/>
              </a:rPr>
              <a:t>app.js</a:t>
            </a:r>
          </a:p>
        </p:txBody>
      </p:sp>
      <p:sp>
        <p:nvSpPr>
          <p:cNvPr id="33" name="Line 33"/>
          <p:cNvSpPr/>
          <p:nvPr/>
        </p:nvSpPr>
        <p:spPr>
          <a:xfrm>
            <a:off x="762000" y="4762500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34" name="Circle 34"/>
          <p:cNvSpPr/>
          <p:nvPr/>
        </p:nvSpPr>
        <p:spPr>
          <a:xfrm>
            <a:off x="728662" y="4729162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35" name="Text 35"/>
          <p:cNvSpPr txBox="1"/>
          <p:nvPr/>
        </p:nvSpPr>
        <p:spPr>
          <a:xfrm>
            <a:off x="1047750" y="4650105"/>
            <a:ext cx="1124712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Courier New"/>
                <a:ea typeface="Courier New"/>
              </a:rPr>
              <a:t>app.json</a:t>
            </a:r>
          </a:p>
        </p:txBody>
      </p:sp>
      <p:sp>
        <p:nvSpPr>
          <p:cNvPr id="36" name="Line 36"/>
          <p:cNvSpPr/>
          <p:nvPr/>
        </p:nvSpPr>
        <p:spPr>
          <a:xfrm>
            <a:off x="762000" y="5095875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37" name="Circle 37"/>
          <p:cNvSpPr/>
          <p:nvPr/>
        </p:nvSpPr>
        <p:spPr>
          <a:xfrm>
            <a:off x="728662" y="5062538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38" name="Text 38"/>
          <p:cNvSpPr txBox="1"/>
          <p:nvPr/>
        </p:nvSpPr>
        <p:spPr>
          <a:xfrm>
            <a:off x="1047750" y="4983480"/>
            <a:ext cx="1124712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Courier New"/>
                <a:ea typeface="Courier New"/>
              </a:rPr>
              <a:t>app.wxss</a:t>
            </a:r>
          </a:p>
        </p:txBody>
      </p:sp>
      <p:sp>
        <p:nvSpPr>
          <p:cNvPr id="39" name="Line 39"/>
          <p:cNvSpPr/>
          <p:nvPr/>
        </p:nvSpPr>
        <p:spPr>
          <a:xfrm>
            <a:off x="762000" y="5429250"/>
            <a:ext cx="190500" cy="952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</p:sp>
      <p:sp>
        <p:nvSpPr>
          <p:cNvPr id="40" name="Circle 40"/>
          <p:cNvSpPr/>
          <p:nvPr/>
        </p:nvSpPr>
        <p:spPr>
          <a:xfrm>
            <a:off x="728662" y="5395912"/>
            <a:ext cx="66675" cy="66675"/>
          </a:xfrm>
          <a:prstGeom prst="ellipse">
            <a:avLst/>
          </a:prstGeom>
          <a:solidFill>
            <a:srgbClr val="CBD5E1"/>
          </a:solidFill>
        </p:spPr>
      </p:sp>
      <p:sp>
        <p:nvSpPr>
          <p:cNvPr id="41" name="Text 41"/>
          <p:cNvSpPr txBox="1"/>
          <p:nvPr/>
        </p:nvSpPr>
        <p:spPr>
          <a:xfrm>
            <a:off x="1047750" y="5316855"/>
            <a:ext cx="2461641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Courier New"/>
                <a:ea typeface="Courier New"/>
              </a:rPr>
              <a:t>project.config.json</a:t>
            </a:r>
          </a:p>
        </p:txBody>
      </p:sp>
      <p:sp>
        <p:nvSpPr>
          <p:cNvPr id="42" name="Path 42"/>
          <p:cNvSpPr/>
          <p:nvPr/>
        </p:nvSpPr>
        <p:spPr>
          <a:xfrm>
            <a:off x="6096000" y="1524000"/>
            <a:ext cx="5334000" cy="1143000"/>
          </a:xfrm>
          <a:custGeom>
            <a:avLst/>
            <a:gdLst/>
            <a:ahLst/>
            <a:cxnLst/>
            <a:rect l="0" t="0" r="0" b="0"/>
            <a:pathLst>
              <a:path w="5600000" h="1200000">
                <a:moveTo>
                  <a:pt x="80000" y="0"/>
                </a:moveTo>
                <a:lnTo>
                  <a:pt x="5520000" y="0"/>
                </a:lnTo>
                <a:cubicBezTo>
                  <a:pt x="5564183" y="0"/>
                  <a:pt x="5600000" y="35817"/>
                  <a:pt x="5600000" y="80000"/>
                </a:cubicBezTo>
                <a:lnTo>
                  <a:pt x="5600000" y="1120000"/>
                </a:lnTo>
                <a:cubicBezTo>
                  <a:pt x="5600000" y="1164183"/>
                  <a:pt x="5564183" y="1200000"/>
                  <a:pt x="5520000" y="1200000"/>
                </a:cubicBezTo>
                <a:lnTo>
                  <a:pt x="80000" y="1200000"/>
                </a:lnTo>
                <a:cubicBezTo>
                  <a:pt x="35817" y="1200000"/>
                  <a:pt x="0" y="1164183"/>
                  <a:pt x="0" y="1120000"/>
                </a:cubicBezTo>
                <a:lnTo>
                  <a:pt x="0" y="80000"/>
                </a:lnTo>
                <a:cubicBezTo>
                  <a:pt x="0" y="35817"/>
                  <a:pt x="35817" y="0"/>
                  <a:pt x="800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43" name="Path 43"/>
          <p:cNvSpPr/>
          <p:nvPr/>
        </p:nvSpPr>
        <p:spPr>
          <a:xfrm>
            <a:off x="6096000" y="1524000"/>
            <a:ext cx="76200" cy="1143000"/>
          </a:xfrm>
          <a:custGeom>
            <a:avLst/>
            <a:gdLst/>
            <a:ahLst/>
            <a:cxnLst/>
            <a:rect l="0" t="0" r="0" b="0"/>
            <a:pathLst>
              <a:path w="80000" h="1200000">
                <a:moveTo>
                  <a:pt x="40000" y="0"/>
                </a:moveTo>
                <a:lnTo>
                  <a:pt x="40000" y="0"/>
                </a:lnTo>
                <a:cubicBezTo>
                  <a:pt x="62091" y="0"/>
                  <a:pt x="80000" y="17909"/>
                  <a:pt x="80000" y="40000"/>
                </a:cubicBezTo>
                <a:lnTo>
                  <a:pt x="80000" y="1160000"/>
                </a:lnTo>
                <a:cubicBezTo>
                  <a:pt x="80000" y="1182091"/>
                  <a:pt x="62091" y="1200000"/>
                  <a:pt x="40000" y="1200000"/>
                </a:cubicBezTo>
                <a:lnTo>
                  <a:pt x="40000" y="1200000"/>
                </a:lnTo>
                <a:cubicBezTo>
                  <a:pt x="17909" y="1200000"/>
                  <a:pt x="0" y="1182091"/>
                  <a:pt x="0" y="1160000"/>
                </a:cubicBezTo>
                <a:lnTo>
                  <a:pt x="0" y="40000"/>
                </a:lnTo>
                <a:cubicBezTo>
                  <a:pt x="0" y="17909"/>
                  <a:pt x="17909" y="0"/>
                  <a:pt x="40000" y="0"/>
                </a:cubicBezTo>
                <a:close/>
              </a:path>
            </a:pathLst>
          </a:custGeom>
          <a:solidFill>
            <a:srgbClr val="2563EB"/>
          </a:solidFill>
        </p:spPr>
      </p:sp>
      <p:sp>
        <p:nvSpPr>
          <p:cNvPr id="44" name="Circle 44"/>
          <p:cNvSpPr/>
          <p:nvPr/>
        </p:nvSpPr>
        <p:spPr>
          <a:xfrm>
            <a:off x="6248400" y="1676400"/>
            <a:ext cx="266700" cy="2667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5" name="Text 45"/>
          <p:cNvSpPr txBox="1"/>
          <p:nvPr/>
        </p:nvSpPr>
        <p:spPr>
          <a:xfrm>
            <a:off x="6241742" y="1697355"/>
            <a:ext cx="28001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6667500" y="1637348"/>
            <a:ext cx="2985197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650" b="1" dirty="0">
                <a:solidFill>
                  <a:srgbClr val="1E293B"/>
                </a:solidFill>
                <a:latin typeface="Microsoft YaHei"/>
                <a:ea typeface="Microsoft YaHei"/>
              </a:rPr>
              <a:t>全局配置 app.json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6381750" y="2153602"/>
            <a:ext cx="5068919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dirty="0">
                <a:solidFill>
                  <a:srgbClr val="64748B"/>
                </a:solidFill>
                <a:latin typeface="Microsoft YaHei"/>
                <a:ea typeface="Microsoft YaHei"/>
              </a:rPr>
              <a:t>定义页面路径、窗口样式、tabBar 等全局设置</a:t>
            </a:r>
          </a:p>
        </p:txBody>
      </p:sp>
      <p:sp>
        <p:nvSpPr>
          <p:cNvPr id="48" name="Path 48"/>
          <p:cNvSpPr/>
          <p:nvPr/>
        </p:nvSpPr>
        <p:spPr>
          <a:xfrm>
            <a:off x="6096000" y="2857500"/>
            <a:ext cx="5334000" cy="1143000"/>
          </a:xfrm>
          <a:custGeom>
            <a:avLst/>
            <a:gdLst/>
            <a:ahLst/>
            <a:cxnLst/>
            <a:rect l="0" t="0" r="0" b="0"/>
            <a:pathLst>
              <a:path w="5600000" h="1200000">
                <a:moveTo>
                  <a:pt x="80000" y="0"/>
                </a:moveTo>
                <a:lnTo>
                  <a:pt x="5520000" y="0"/>
                </a:lnTo>
                <a:cubicBezTo>
                  <a:pt x="5564183" y="0"/>
                  <a:pt x="5600000" y="35817"/>
                  <a:pt x="5600000" y="80000"/>
                </a:cubicBezTo>
                <a:lnTo>
                  <a:pt x="5600000" y="1120000"/>
                </a:lnTo>
                <a:cubicBezTo>
                  <a:pt x="5600000" y="1164183"/>
                  <a:pt x="5564183" y="1200000"/>
                  <a:pt x="5520000" y="1200000"/>
                </a:cubicBezTo>
                <a:lnTo>
                  <a:pt x="80000" y="1200000"/>
                </a:lnTo>
                <a:cubicBezTo>
                  <a:pt x="35817" y="1200000"/>
                  <a:pt x="0" y="1164183"/>
                  <a:pt x="0" y="1120000"/>
                </a:cubicBezTo>
                <a:lnTo>
                  <a:pt x="0" y="80000"/>
                </a:lnTo>
                <a:cubicBezTo>
                  <a:pt x="0" y="35817"/>
                  <a:pt x="35817" y="0"/>
                  <a:pt x="800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49" name="Path 49"/>
          <p:cNvSpPr/>
          <p:nvPr/>
        </p:nvSpPr>
        <p:spPr>
          <a:xfrm>
            <a:off x="6096000" y="2857500"/>
            <a:ext cx="76200" cy="1143000"/>
          </a:xfrm>
          <a:custGeom>
            <a:avLst/>
            <a:gdLst/>
            <a:ahLst/>
            <a:cxnLst/>
            <a:rect l="0" t="0" r="0" b="0"/>
            <a:pathLst>
              <a:path w="80000" h="1200000">
                <a:moveTo>
                  <a:pt x="40000" y="0"/>
                </a:moveTo>
                <a:lnTo>
                  <a:pt x="40000" y="0"/>
                </a:lnTo>
                <a:cubicBezTo>
                  <a:pt x="62091" y="0"/>
                  <a:pt x="80000" y="17909"/>
                  <a:pt x="80000" y="40000"/>
                </a:cubicBezTo>
                <a:lnTo>
                  <a:pt x="80000" y="1160000"/>
                </a:lnTo>
                <a:cubicBezTo>
                  <a:pt x="80000" y="1182091"/>
                  <a:pt x="62091" y="1200000"/>
                  <a:pt x="40000" y="1200000"/>
                </a:cubicBezTo>
                <a:lnTo>
                  <a:pt x="40000" y="1200000"/>
                </a:lnTo>
                <a:cubicBezTo>
                  <a:pt x="17909" y="1200000"/>
                  <a:pt x="0" y="1182091"/>
                  <a:pt x="0" y="1160000"/>
                </a:cubicBezTo>
                <a:lnTo>
                  <a:pt x="0" y="40000"/>
                </a:lnTo>
                <a:cubicBezTo>
                  <a:pt x="0" y="17909"/>
                  <a:pt x="17909" y="0"/>
                  <a:pt x="400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50" name="Circle 50"/>
          <p:cNvSpPr/>
          <p:nvPr/>
        </p:nvSpPr>
        <p:spPr>
          <a:xfrm>
            <a:off x="6248400" y="3009900"/>
            <a:ext cx="266700" cy="26670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51" name="Text 51"/>
          <p:cNvSpPr txBox="1"/>
          <p:nvPr/>
        </p:nvSpPr>
        <p:spPr>
          <a:xfrm>
            <a:off x="6241742" y="3030855"/>
            <a:ext cx="28001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6667500" y="2970848"/>
            <a:ext cx="1485710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650" b="1" dirty="0">
                <a:solidFill>
                  <a:srgbClr val="1E293B"/>
                </a:solidFill>
                <a:latin typeface="Microsoft YaHei"/>
                <a:ea typeface="Microsoft YaHei"/>
              </a:rPr>
              <a:t>页面结构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381750" y="3487102"/>
            <a:ext cx="5926598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dirty="0">
                <a:solidFill>
                  <a:srgbClr val="64748B"/>
                </a:solidFill>
                <a:latin typeface="Microsoft YaHei"/>
                <a:ea typeface="Microsoft YaHei"/>
              </a:rPr>
              <a:t>每个页面由 .wxml、.wxss、.js、.json 四个文件组成</a:t>
            </a:r>
          </a:p>
        </p:txBody>
      </p:sp>
      <p:sp>
        <p:nvSpPr>
          <p:cNvPr id="54" name="Path 54"/>
          <p:cNvSpPr/>
          <p:nvPr/>
        </p:nvSpPr>
        <p:spPr>
          <a:xfrm>
            <a:off x="6096000" y="4191000"/>
            <a:ext cx="5334000" cy="1143000"/>
          </a:xfrm>
          <a:custGeom>
            <a:avLst/>
            <a:gdLst/>
            <a:ahLst/>
            <a:cxnLst/>
            <a:rect l="0" t="0" r="0" b="0"/>
            <a:pathLst>
              <a:path w="5600000" h="1200000">
                <a:moveTo>
                  <a:pt x="80000" y="0"/>
                </a:moveTo>
                <a:lnTo>
                  <a:pt x="5520000" y="0"/>
                </a:lnTo>
                <a:cubicBezTo>
                  <a:pt x="5564183" y="0"/>
                  <a:pt x="5600000" y="35817"/>
                  <a:pt x="5600000" y="80000"/>
                </a:cubicBezTo>
                <a:lnTo>
                  <a:pt x="5600000" y="1120000"/>
                </a:lnTo>
                <a:cubicBezTo>
                  <a:pt x="5600000" y="1164183"/>
                  <a:pt x="5564183" y="1200000"/>
                  <a:pt x="5520000" y="1200000"/>
                </a:cubicBezTo>
                <a:lnTo>
                  <a:pt x="80000" y="1200000"/>
                </a:lnTo>
                <a:cubicBezTo>
                  <a:pt x="35817" y="1200000"/>
                  <a:pt x="0" y="1164183"/>
                  <a:pt x="0" y="1120000"/>
                </a:cubicBezTo>
                <a:lnTo>
                  <a:pt x="0" y="80000"/>
                </a:lnTo>
                <a:cubicBezTo>
                  <a:pt x="0" y="35817"/>
                  <a:pt x="35817" y="0"/>
                  <a:pt x="80000" y="0"/>
                </a:cubicBezTo>
                <a:close/>
              </a:path>
            </a:pathLst>
          </a:custGeom>
          <a:solidFill>
            <a:srgbClr val="DBEAFE"/>
          </a:solidFill>
          <a:ln w="19050">
            <a:solidFill>
              <a:srgbClr val="2563EB"/>
            </a:solidFill>
          </a:ln>
        </p:spPr>
      </p:sp>
      <p:sp>
        <p:nvSpPr>
          <p:cNvPr id="55" name="Path 55"/>
          <p:cNvSpPr/>
          <p:nvPr/>
        </p:nvSpPr>
        <p:spPr>
          <a:xfrm>
            <a:off x="6096000" y="4191000"/>
            <a:ext cx="76200" cy="1143000"/>
          </a:xfrm>
          <a:custGeom>
            <a:avLst/>
            <a:gdLst/>
            <a:ahLst/>
            <a:cxnLst/>
            <a:rect l="0" t="0" r="0" b="0"/>
            <a:pathLst>
              <a:path w="80000" h="1200000">
                <a:moveTo>
                  <a:pt x="40000" y="0"/>
                </a:moveTo>
                <a:lnTo>
                  <a:pt x="40000" y="0"/>
                </a:lnTo>
                <a:cubicBezTo>
                  <a:pt x="62091" y="0"/>
                  <a:pt x="80000" y="17909"/>
                  <a:pt x="80000" y="40000"/>
                </a:cubicBezTo>
                <a:lnTo>
                  <a:pt x="80000" y="1160000"/>
                </a:lnTo>
                <a:cubicBezTo>
                  <a:pt x="80000" y="1182091"/>
                  <a:pt x="62091" y="1200000"/>
                  <a:pt x="40000" y="1200000"/>
                </a:cubicBezTo>
                <a:lnTo>
                  <a:pt x="40000" y="1200000"/>
                </a:lnTo>
                <a:cubicBezTo>
                  <a:pt x="17909" y="1200000"/>
                  <a:pt x="0" y="1182091"/>
                  <a:pt x="0" y="1160000"/>
                </a:cubicBezTo>
                <a:lnTo>
                  <a:pt x="0" y="40000"/>
                </a:lnTo>
                <a:cubicBezTo>
                  <a:pt x="0" y="17909"/>
                  <a:pt x="17909" y="0"/>
                  <a:pt x="40000" y="0"/>
                </a:cubicBezTo>
                <a:close/>
              </a:path>
            </a:pathLst>
          </a:custGeom>
          <a:solidFill>
            <a:srgbClr val="2563EB"/>
          </a:solidFill>
        </p:spPr>
      </p:sp>
      <p:sp>
        <p:nvSpPr>
          <p:cNvPr id="56" name="Circle 56"/>
          <p:cNvSpPr/>
          <p:nvPr/>
        </p:nvSpPr>
        <p:spPr>
          <a:xfrm>
            <a:off x="6248400" y="4343400"/>
            <a:ext cx="266700" cy="2667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7" name="Text 57"/>
          <p:cNvSpPr txBox="1"/>
          <p:nvPr/>
        </p:nvSpPr>
        <p:spPr>
          <a:xfrm>
            <a:off x="6241742" y="4364355"/>
            <a:ext cx="280016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6667500" y="4304348"/>
            <a:ext cx="1485710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650" b="1" dirty="0">
                <a:solidFill>
                  <a:srgbClr val="1E293B"/>
                </a:solidFill>
                <a:latin typeface="Microsoft YaHei"/>
                <a:ea typeface="Microsoft YaHei"/>
              </a:rPr>
              <a:t>数据绑定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6381750" y="4820602"/>
            <a:ext cx="3930320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Courier New"/>
                <a:ea typeface="Courier New"/>
              </a:rPr>
              <a:t>通过</a:t>
            </a:r>
            <a:r>
              <a:rPr lang="en-US" sz="1350" b="1" dirty="0">
                <a:solidFill>
                  <a:srgbClr val="2563EB"/>
                </a:solidFill>
                <a:latin typeface="Courier New"/>
                <a:ea typeface="Courier New"/>
              </a:rPr>
              <a:t>{{}}</a:t>
            </a:r>
            <a:r>
              <a:rPr lang="en-US" sz="1350" dirty="0">
                <a:solidFill>
                  <a:srgbClr val="1E293B"/>
                </a:solidFill>
                <a:latin typeface="Courier New"/>
                <a:ea typeface="Courier New"/>
              </a:rPr>
              <a:t>将 JS 数据渲染到 WXML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71500" y="6336982"/>
            <a:ext cx="2530983" cy="180023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Microsoft YaHei"/>
                <a:ea typeface="Microsoft YaHei"/>
              </a:rPr>
              <a:t>5 / 8 · 项目结构与核心文件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Circle 3"/>
          <p:cNvSpPr/>
          <p:nvPr/>
        </p:nvSpPr>
        <p:spPr>
          <a:xfrm>
            <a:off x="8953500" y="-571500"/>
            <a:ext cx="3048000" cy="3048000"/>
          </a:xfrm>
          <a:prstGeom prst="ellipse">
            <a:avLst/>
          </a:prstGeom>
          <a:solidFill>
            <a:srgbClr val="DBEAFE">
              <a:alpha val="30000"/>
            </a:srgbClr>
          </a:solidFill>
        </p:spPr>
      </p:sp>
      <p:sp>
        <p:nvSpPr>
          <p:cNvPr id="4" name="Circle 4"/>
          <p:cNvSpPr/>
          <p:nvPr/>
        </p:nvSpPr>
        <p:spPr>
          <a:xfrm>
            <a:off x="-381000" y="5048250"/>
            <a:ext cx="2286000" cy="2286000"/>
          </a:xfrm>
          <a:prstGeom prst="ellipse">
            <a:avLst/>
          </a:prstGeom>
          <a:solidFill>
            <a:srgbClr val="DBEAFE">
              <a:alpha val="20000"/>
            </a:srgbClr>
          </a:solidFill>
        </p:spPr>
      </p:sp>
      <p:sp>
        <p:nvSpPr>
          <p:cNvPr id="5" name="Path 5"/>
          <p:cNvSpPr/>
          <p:nvPr/>
        </p:nvSpPr>
        <p:spPr>
          <a:xfrm>
            <a:off x="571500" y="762000"/>
            <a:ext cx="57150" cy="342900"/>
          </a:xfrm>
          <a:custGeom>
            <a:avLst/>
            <a:gdLst/>
            <a:ahLst/>
            <a:cxnLst/>
            <a:rect l="0" t="0" r="0" b="0"/>
            <a:pathLst>
              <a:path w="60000" h="360000">
                <a:moveTo>
                  <a:pt x="30000" y="0"/>
                </a:moveTo>
                <a:lnTo>
                  <a:pt x="30000" y="0"/>
                </a:lnTo>
                <a:cubicBezTo>
                  <a:pt x="46569" y="0"/>
                  <a:pt x="60000" y="13431"/>
                  <a:pt x="60000" y="30000"/>
                </a:cubicBezTo>
                <a:lnTo>
                  <a:pt x="60000" y="330000"/>
                </a:lnTo>
                <a:cubicBezTo>
                  <a:pt x="60000" y="346569"/>
                  <a:pt x="46569" y="360000"/>
                  <a:pt x="30000" y="360000"/>
                </a:cubicBezTo>
                <a:lnTo>
                  <a:pt x="30000" y="360000"/>
                </a:lnTo>
                <a:cubicBezTo>
                  <a:pt x="13431" y="360000"/>
                  <a:pt x="0" y="346569"/>
                  <a:pt x="0" y="330000"/>
                </a:cubicBezTo>
                <a:lnTo>
                  <a:pt x="0" y="30000"/>
                </a:lnTo>
                <a:cubicBezTo>
                  <a:pt x="0" y="13431"/>
                  <a:pt x="13431" y="0"/>
                  <a:pt x="30000" y="0"/>
                </a:cubicBezTo>
                <a:close/>
              </a:path>
            </a:pathLst>
          </a:custGeom>
          <a:solidFill>
            <a:srgbClr val="2563EB"/>
          </a:solidFill>
        </p:spPr>
      </p:sp>
      <p:sp>
        <p:nvSpPr>
          <p:cNvPr id="6" name="Text 6"/>
          <p:cNvSpPr txBox="1"/>
          <p:nvPr/>
        </p:nvSpPr>
        <p:spPr>
          <a:xfrm>
            <a:off x="762000" y="649605"/>
            <a:ext cx="3475292" cy="46291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2700" b="1" dirty="0">
                <a:solidFill>
                  <a:srgbClr val="1E293B"/>
                </a:solidFill>
                <a:latin typeface="Microsoft YaHei"/>
                <a:ea typeface="Microsoft YaHei"/>
              </a:rPr>
              <a:t>开发流程演示</a:t>
            </a:r>
          </a:p>
        </p:txBody>
      </p:sp>
      <p:sp>
        <p:nvSpPr>
          <p:cNvPr id="7" name="Line 7"/>
          <p:cNvSpPr/>
          <p:nvPr/>
        </p:nvSpPr>
        <p:spPr>
          <a:xfrm>
            <a:off x="781050" y="2133600"/>
            <a:ext cx="952" cy="3219450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</p:sp>
      <p:sp>
        <p:nvSpPr>
          <p:cNvPr id="8" name="Path 8"/>
          <p:cNvSpPr/>
          <p:nvPr/>
        </p:nvSpPr>
        <p:spPr>
          <a:xfrm>
            <a:off x="571500" y="17145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440000" h="440000">
                <a:moveTo>
                  <a:pt x="220000" y="0"/>
                </a:moveTo>
                <a:lnTo>
                  <a:pt x="220000" y="0"/>
                </a:lnTo>
                <a:cubicBezTo>
                  <a:pt x="341503" y="0"/>
                  <a:pt x="440000" y="98497"/>
                  <a:pt x="440000" y="220000"/>
                </a:cubicBezTo>
                <a:lnTo>
                  <a:pt x="440000" y="220000"/>
                </a:lnTo>
                <a:cubicBezTo>
                  <a:pt x="440000" y="341503"/>
                  <a:pt x="341503" y="440000"/>
                  <a:pt x="220000" y="440000"/>
                </a:cubicBezTo>
                <a:lnTo>
                  <a:pt x="220000" y="440000"/>
                </a:lnTo>
                <a:cubicBezTo>
                  <a:pt x="98497" y="440000"/>
                  <a:pt x="0" y="341503"/>
                  <a:pt x="0" y="220000"/>
                </a:cubicBezTo>
                <a:lnTo>
                  <a:pt x="0" y="220000"/>
                </a:lnTo>
                <a:cubicBezTo>
                  <a:pt x="0" y="98497"/>
                  <a:pt x="98497" y="0"/>
                  <a:pt x="220000" y="0"/>
                </a:cubicBezTo>
                <a:close/>
              </a:path>
            </a:pathLst>
          </a:custGeom>
          <a:solidFill>
            <a:srgbClr val="2563EB"/>
          </a:solidFill>
        </p:spPr>
      </p:sp>
      <p:sp>
        <p:nvSpPr>
          <p:cNvPr id="9" name="Text 9"/>
          <p:cNvSpPr txBox="1"/>
          <p:nvPr/>
        </p:nvSpPr>
        <p:spPr>
          <a:xfrm>
            <a:off x="588539" y="1761172"/>
            <a:ext cx="385022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143000" y="1781175"/>
            <a:ext cx="2220754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创建小程序页面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143000" y="2087880"/>
            <a:ext cx="4428363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在 pages 目录下新建文件夹和四个核心文件</a:t>
            </a:r>
          </a:p>
        </p:txBody>
      </p:sp>
      <p:sp>
        <p:nvSpPr>
          <p:cNvPr id="12" name="Path 12"/>
          <p:cNvSpPr/>
          <p:nvPr/>
        </p:nvSpPr>
        <p:spPr>
          <a:xfrm>
            <a:off x="571500" y="28575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440000" h="440000">
                <a:moveTo>
                  <a:pt x="220000" y="0"/>
                </a:moveTo>
                <a:lnTo>
                  <a:pt x="220000" y="0"/>
                </a:lnTo>
                <a:cubicBezTo>
                  <a:pt x="341503" y="0"/>
                  <a:pt x="440000" y="98497"/>
                  <a:pt x="440000" y="220000"/>
                </a:cubicBezTo>
                <a:lnTo>
                  <a:pt x="440000" y="220000"/>
                </a:lnTo>
                <a:cubicBezTo>
                  <a:pt x="440000" y="341503"/>
                  <a:pt x="341503" y="440000"/>
                  <a:pt x="220000" y="440000"/>
                </a:cubicBezTo>
                <a:lnTo>
                  <a:pt x="220000" y="440000"/>
                </a:lnTo>
                <a:cubicBezTo>
                  <a:pt x="98497" y="440000"/>
                  <a:pt x="0" y="341503"/>
                  <a:pt x="0" y="220000"/>
                </a:cubicBezTo>
                <a:lnTo>
                  <a:pt x="0" y="220000"/>
                </a:lnTo>
                <a:cubicBezTo>
                  <a:pt x="0" y="98497"/>
                  <a:pt x="98497" y="0"/>
                  <a:pt x="2200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3" name="Text 13"/>
          <p:cNvSpPr txBox="1"/>
          <p:nvPr/>
        </p:nvSpPr>
        <p:spPr>
          <a:xfrm>
            <a:off x="588539" y="2904172"/>
            <a:ext cx="385022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143000" y="2924175"/>
            <a:ext cx="2597801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编辑 WXML 与 WXSS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143000" y="3230880"/>
            <a:ext cx="413004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WXML 搭建视图结构，WXSS 控制页面样式</a:t>
            </a:r>
          </a:p>
        </p:txBody>
      </p:sp>
      <p:sp>
        <p:nvSpPr>
          <p:cNvPr id="16" name="Path 16"/>
          <p:cNvSpPr/>
          <p:nvPr/>
        </p:nvSpPr>
        <p:spPr>
          <a:xfrm>
            <a:off x="571500" y="40005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440000" h="440000">
                <a:moveTo>
                  <a:pt x="220000" y="0"/>
                </a:moveTo>
                <a:lnTo>
                  <a:pt x="220000" y="0"/>
                </a:lnTo>
                <a:cubicBezTo>
                  <a:pt x="341503" y="0"/>
                  <a:pt x="440000" y="98497"/>
                  <a:pt x="440000" y="220000"/>
                </a:cubicBezTo>
                <a:lnTo>
                  <a:pt x="440000" y="220000"/>
                </a:lnTo>
                <a:cubicBezTo>
                  <a:pt x="440000" y="341503"/>
                  <a:pt x="341503" y="440000"/>
                  <a:pt x="220000" y="440000"/>
                </a:cubicBezTo>
                <a:lnTo>
                  <a:pt x="220000" y="440000"/>
                </a:lnTo>
                <a:cubicBezTo>
                  <a:pt x="98497" y="440000"/>
                  <a:pt x="0" y="341503"/>
                  <a:pt x="0" y="220000"/>
                </a:cubicBezTo>
                <a:lnTo>
                  <a:pt x="0" y="220000"/>
                </a:lnTo>
                <a:cubicBezTo>
                  <a:pt x="0" y="98497"/>
                  <a:pt x="98497" y="0"/>
                  <a:pt x="220000" y="0"/>
                </a:cubicBezTo>
                <a:close/>
              </a:path>
            </a:pathLst>
          </a:custGeom>
          <a:solidFill>
            <a:srgbClr val="2563EB"/>
          </a:solidFill>
        </p:spPr>
      </p:sp>
      <p:sp>
        <p:nvSpPr>
          <p:cNvPr id="17" name="Text 17"/>
          <p:cNvSpPr txBox="1"/>
          <p:nvPr/>
        </p:nvSpPr>
        <p:spPr>
          <a:xfrm>
            <a:off x="588539" y="4047172"/>
            <a:ext cx="385022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43000" y="4067175"/>
            <a:ext cx="2133743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编写 JS 逻辑层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143000" y="4373880"/>
            <a:ext cx="401955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在 JS 文件中定义 data 和事件处理函数</a:t>
            </a:r>
          </a:p>
        </p:txBody>
      </p:sp>
      <p:sp>
        <p:nvSpPr>
          <p:cNvPr id="20" name="Path 20"/>
          <p:cNvSpPr/>
          <p:nvPr/>
        </p:nvSpPr>
        <p:spPr>
          <a:xfrm>
            <a:off x="571500" y="51435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440000" h="440000">
                <a:moveTo>
                  <a:pt x="220000" y="0"/>
                </a:moveTo>
                <a:lnTo>
                  <a:pt x="220000" y="0"/>
                </a:lnTo>
                <a:cubicBezTo>
                  <a:pt x="341503" y="0"/>
                  <a:pt x="440000" y="98497"/>
                  <a:pt x="440000" y="220000"/>
                </a:cubicBezTo>
                <a:lnTo>
                  <a:pt x="440000" y="220000"/>
                </a:lnTo>
                <a:cubicBezTo>
                  <a:pt x="440000" y="341503"/>
                  <a:pt x="341503" y="440000"/>
                  <a:pt x="220000" y="440000"/>
                </a:cubicBezTo>
                <a:lnTo>
                  <a:pt x="220000" y="440000"/>
                </a:lnTo>
                <a:cubicBezTo>
                  <a:pt x="98497" y="440000"/>
                  <a:pt x="0" y="341503"/>
                  <a:pt x="0" y="220000"/>
                </a:cubicBezTo>
                <a:lnTo>
                  <a:pt x="0" y="220000"/>
                </a:lnTo>
                <a:cubicBezTo>
                  <a:pt x="0" y="98497"/>
                  <a:pt x="98497" y="0"/>
                  <a:pt x="2200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1" name="Text 21"/>
          <p:cNvSpPr txBox="1"/>
          <p:nvPr/>
        </p:nvSpPr>
        <p:spPr>
          <a:xfrm>
            <a:off x="588539" y="5190172"/>
            <a:ext cx="385022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143000" y="5210175"/>
            <a:ext cx="2220754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编译与真机调试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143000" y="5516880"/>
            <a:ext cx="4339971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点击编译预览效果，使用真机调试测试 API</a:t>
            </a:r>
          </a:p>
        </p:txBody>
      </p:sp>
      <p:sp>
        <p:nvSpPr>
          <p:cNvPr id="24" name="Path 24"/>
          <p:cNvSpPr/>
          <p:nvPr/>
        </p:nvSpPr>
        <p:spPr>
          <a:xfrm>
            <a:off x="6667500" y="1714500"/>
            <a:ext cx="4953000" cy="4191000"/>
          </a:xfrm>
          <a:custGeom>
            <a:avLst/>
            <a:gdLst/>
            <a:ahLst/>
            <a:cxnLst/>
            <a:rect l="0" t="0" r="0" b="0"/>
            <a:pathLst>
              <a:path w="5200000" h="4400000">
                <a:moveTo>
                  <a:pt x="160000" y="0"/>
                </a:moveTo>
                <a:lnTo>
                  <a:pt x="5040000" y="0"/>
                </a:lnTo>
                <a:cubicBezTo>
                  <a:pt x="5128366" y="0"/>
                  <a:pt x="5200000" y="71634"/>
                  <a:pt x="5200000" y="160000"/>
                </a:cubicBezTo>
                <a:lnTo>
                  <a:pt x="5200000" y="4240000"/>
                </a:lnTo>
                <a:cubicBezTo>
                  <a:pt x="5200000" y="4328366"/>
                  <a:pt x="5128366" y="4400000"/>
                  <a:pt x="5040000" y="4400000"/>
                </a:cubicBezTo>
                <a:lnTo>
                  <a:pt x="160000" y="4400000"/>
                </a:lnTo>
                <a:cubicBezTo>
                  <a:pt x="71634" y="4400000"/>
                  <a:pt x="0" y="4328366"/>
                  <a:pt x="0" y="4240000"/>
                </a:cubicBezTo>
                <a:lnTo>
                  <a:pt x="0" y="160000"/>
                </a:lnTo>
                <a:cubicBezTo>
                  <a:pt x="0" y="71634"/>
                  <a:pt x="71634" y="0"/>
                  <a:pt x="160000" y="0"/>
                </a:cubicBezTo>
                <a:close/>
              </a:path>
            </a:pathLst>
          </a:custGeom>
          <a:solidFill>
            <a:srgbClr val="F8FAFC"/>
          </a:solidFill>
          <a:ln w="19050">
            <a:solidFill>
              <a:srgbClr val="E2E8F0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7048500" y="1923098"/>
            <a:ext cx="2123789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650" b="1" dirty="0">
                <a:solidFill>
                  <a:srgbClr val="1E293B"/>
                </a:solidFill>
                <a:latin typeface="Microsoft YaHei"/>
                <a:ea typeface="Microsoft YaHei"/>
              </a:rPr>
              <a:t>开发工具提示</a:t>
            </a:r>
          </a:p>
        </p:txBody>
      </p:sp>
      <p:sp>
        <p:nvSpPr>
          <p:cNvPr id="26" name="Line 26"/>
          <p:cNvSpPr/>
          <p:nvPr/>
        </p:nvSpPr>
        <p:spPr>
          <a:xfrm>
            <a:off x="7048500" y="2333625"/>
            <a:ext cx="4191000" cy="952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</p:sp>
      <p:sp>
        <p:nvSpPr>
          <p:cNvPr id="27" name="Path 27"/>
          <p:cNvSpPr/>
          <p:nvPr/>
        </p:nvSpPr>
        <p:spPr>
          <a:xfrm>
            <a:off x="7048500" y="266700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480000" h="480000">
                <a:moveTo>
                  <a:pt x="120000" y="0"/>
                </a:moveTo>
                <a:lnTo>
                  <a:pt x="360000" y="0"/>
                </a:lnTo>
                <a:cubicBezTo>
                  <a:pt x="426274" y="0"/>
                  <a:pt x="480000" y="53726"/>
                  <a:pt x="480000" y="120000"/>
                </a:cubicBezTo>
                <a:lnTo>
                  <a:pt x="480000" y="360000"/>
                </a:lnTo>
                <a:cubicBezTo>
                  <a:pt x="480000" y="426274"/>
                  <a:pt x="426274" y="480000"/>
                  <a:pt x="360000" y="480000"/>
                </a:cubicBezTo>
                <a:lnTo>
                  <a:pt x="120000" y="480000"/>
                </a:lnTo>
                <a:cubicBezTo>
                  <a:pt x="53726" y="480000"/>
                  <a:pt x="0" y="426274"/>
                  <a:pt x="0" y="360000"/>
                </a:cubicBezTo>
                <a:lnTo>
                  <a:pt x="0" y="120000"/>
                </a:lnTo>
                <a:cubicBezTo>
                  <a:pt x="0" y="53726"/>
                  <a:pt x="53726" y="0"/>
                  <a:pt x="120000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28" name="Text 28"/>
          <p:cNvSpPr txBox="1"/>
          <p:nvPr/>
        </p:nvSpPr>
        <p:spPr>
          <a:xfrm>
            <a:off x="7620000" y="2753678"/>
            <a:ext cx="2599053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Microsoft YaHei"/>
                <a:ea typeface="Microsoft YaHei"/>
              </a:rPr>
              <a:t>编译预览 (Ctrl + R)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7620000" y="3002280"/>
            <a:ext cx="346710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快速查看页面效果，及时调整布局</a:t>
            </a:r>
          </a:p>
        </p:txBody>
      </p:sp>
      <p:sp>
        <p:nvSpPr>
          <p:cNvPr id="30" name="Path 30"/>
          <p:cNvSpPr/>
          <p:nvPr/>
        </p:nvSpPr>
        <p:spPr>
          <a:xfrm>
            <a:off x="7048500" y="352425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480000" h="480000">
                <a:moveTo>
                  <a:pt x="120000" y="0"/>
                </a:moveTo>
                <a:lnTo>
                  <a:pt x="360000" y="0"/>
                </a:lnTo>
                <a:cubicBezTo>
                  <a:pt x="426274" y="0"/>
                  <a:pt x="480000" y="53726"/>
                  <a:pt x="480000" y="120000"/>
                </a:cubicBezTo>
                <a:lnTo>
                  <a:pt x="480000" y="360000"/>
                </a:lnTo>
                <a:cubicBezTo>
                  <a:pt x="480000" y="426274"/>
                  <a:pt x="426274" y="480000"/>
                  <a:pt x="360000" y="480000"/>
                </a:cubicBezTo>
                <a:lnTo>
                  <a:pt x="120000" y="480000"/>
                </a:lnTo>
                <a:cubicBezTo>
                  <a:pt x="53726" y="480000"/>
                  <a:pt x="0" y="426274"/>
                  <a:pt x="0" y="360000"/>
                </a:cubicBezTo>
                <a:lnTo>
                  <a:pt x="0" y="120000"/>
                </a:lnTo>
                <a:cubicBezTo>
                  <a:pt x="0" y="53726"/>
                  <a:pt x="53726" y="0"/>
                  <a:pt x="120000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31" name="Text 31"/>
          <p:cNvSpPr txBox="1"/>
          <p:nvPr/>
        </p:nvSpPr>
        <p:spPr>
          <a:xfrm>
            <a:off x="7620000" y="3610928"/>
            <a:ext cx="1215580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Microsoft YaHei"/>
                <a:ea typeface="Microsoft YaHei"/>
              </a:rPr>
              <a:t>真机调试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7620000" y="3859530"/>
            <a:ext cx="3235071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在微信客户端真实环境测试 API</a:t>
            </a:r>
          </a:p>
        </p:txBody>
      </p:sp>
      <p:sp>
        <p:nvSpPr>
          <p:cNvPr id="33" name="Path 33"/>
          <p:cNvSpPr/>
          <p:nvPr/>
        </p:nvSpPr>
        <p:spPr>
          <a:xfrm>
            <a:off x="7048500" y="4762500"/>
            <a:ext cx="4191000" cy="762000"/>
          </a:xfrm>
          <a:custGeom>
            <a:avLst/>
            <a:gdLst/>
            <a:ahLst/>
            <a:cxnLst/>
            <a:rect l="0" t="0" r="0" b="0"/>
            <a:pathLst>
              <a:path w="4400000" h="800000">
                <a:moveTo>
                  <a:pt x="80000" y="0"/>
                </a:moveTo>
                <a:lnTo>
                  <a:pt x="4320000" y="0"/>
                </a:lnTo>
                <a:cubicBezTo>
                  <a:pt x="4364183" y="0"/>
                  <a:pt x="4400000" y="35817"/>
                  <a:pt x="4400000" y="80000"/>
                </a:cubicBezTo>
                <a:lnTo>
                  <a:pt x="4400000" y="720000"/>
                </a:lnTo>
                <a:cubicBezTo>
                  <a:pt x="4400000" y="764183"/>
                  <a:pt x="4364183" y="800000"/>
                  <a:pt x="4320000" y="800000"/>
                </a:cubicBezTo>
                <a:lnTo>
                  <a:pt x="80000" y="800000"/>
                </a:lnTo>
                <a:cubicBezTo>
                  <a:pt x="35817" y="800000"/>
                  <a:pt x="0" y="764183"/>
                  <a:pt x="0" y="720000"/>
                </a:cubicBezTo>
                <a:lnTo>
                  <a:pt x="0" y="80000"/>
                </a:lnTo>
                <a:cubicBezTo>
                  <a:pt x="0" y="35817"/>
                  <a:pt x="35817" y="0"/>
                  <a:pt x="800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7239000" y="4888230"/>
            <a:ext cx="3212973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Microsoft YaHei"/>
                <a:ea typeface="Microsoft YaHei"/>
              </a:rPr>
              <a:t>💡 提示：真机调试需要扫码授权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239000" y="5135880"/>
            <a:ext cx="302514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确保手机与电脑在同一网络下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71500" y="6336982"/>
            <a:ext cx="1950911" cy="180023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</a:rPr>
              <a:t>6 / 8 · 开发流程演示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Circle 3"/>
          <p:cNvSpPr/>
          <p:nvPr/>
        </p:nvSpPr>
        <p:spPr>
          <a:xfrm>
            <a:off x="8953500" y="-571500"/>
            <a:ext cx="3048000" cy="3048000"/>
          </a:xfrm>
          <a:prstGeom prst="ellipse">
            <a:avLst/>
          </a:prstGeom>
          <a:solidFill>
            <a:srgbClr val="DBEAFE">
              <a:alpha val="30000"/>
            </a:srgbClr>
          </a:solidFill>
        </p:spPr>
      </p:sp>
      <p:sp>
        <p:nvSpPr>
          <p:cNvPr id="4" name="Circle 4"/>
          <p:cNvSpPr/>
          <p:nvPr/>
        </p:nvSpPr>
        <p:spPr>
          <a:xfrm>
            <a:off x="-381000" y="5048250"/>
            <a:ext cx="2286000" cy="2286000"/>
          </a:xfrm>
          <a:prstGeom prst="ellipse">
            <a:avLst/>
          </a:prstGeom>
          <a:solidFill>
            <a:srgbClr val="DBEAFE">
              <a:alpha val="20000"/>
            </a:srgbClr>
          </a:solidFill>
        </p:spPr>
      </p:sp>
      <p:sp>
        <p:nvSpPr>
          <p:cNvPr id="5" name="Path 5"/>
          <p:cNvSpPr/>
          <p:nvPr/>
        </p:nvSpPr>
        <p:spPr>
          <a:xfrm>
            <a:off x="571500" y="762000"/>
            <a:ext cx="57150" cy="342900"/>
          </a:xfrm>
          <a:custGeom>
            <a:avLst/>
            <a:gdLst/>
            <a:ahLst/>
            <a:cxnLst/>
            <a:rect l="0" t="0" r="0" b="0"/>
            <a:pathLst>
              <a:path w="60000" h="360000">
                <a:moveTo>
                  <a:pt x="30000" y="0"/>
                </a:moveTo>
                <a:lnTo>
                  <a:pt x="30000" y="0"/>
                </a:lnTo>
                <a:cubicBezTo>
                  <a:pt x="46569" y="0"/>
                  <a:pt x="60000" y="13431"/>
                  <a:pt x="60000" y="30000"/>
                </a:cubicBezTo>
                <a:lnTo>
                  <a:pt x="60000" y="330000"/>
                </a:lnTo>
                <a:cubicBezTo>
                  <a:pt x="60000" y="346569"/>
                  <a:pt x="46569" y="360000"/>
                  <a:pt x="30000" y="360000"/>
                </a:cubicBezTo>
                <a:lnTo>
                  <a:pt x="30000" y="360000"/>
                </a:lnTo>
                <a:cubicBezTo>
                  <a:pt x="13431" y="360000"/>
                  <a:pt x="0" y="346569"/>
                  <a:pt x="0" y="330000"/>
                </a:cubicBezTo>
                <a:lnTo>
                  <a:pt x="0" y="30000"/>
                </a:lnTo>
                <a:cubicBezTo>
                  <a:pt x="0" y="13431"/>
                  <a:pt x="13431" y="0"/>
                  <a:pt x="30000" y="0"/>
                </a:cubicBezTo>
                <a:close/>
              </a:path>
            </a:pathLst>
          </a:custGeom>
          <a:solidFill>
            <a:srgbClr val="2563EB"/>
          </a:solidFill>
        </p:spPr>
      </p:sp>
      <p:sp>
        <p:nvSpPr>
          <p:cNvPr id="6" name="Text 6"/>
          <p:cNvSpPr txBox="1"/>
          <p:nvPr/>
        </p:nvSpPr>
        <p:spPr>
          <a:xfrm>
            <a:off x="762000" y="649605"/>
            <a:ext cx="3475292" cy="46291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2700" b="1" dirty="0">
                <a:solidFill>
                  <a:srgbClr val="1E293B"/>
                </a:solidFill>
                <a:latin typeface="Microsoft YaHei"/>
                <a:ea typeface="Microsoft YaHei"/>
              </a:rPr>
              <a:t>开发流程演示</a:t>
            </a:r>
          </a:p>
        </p:txBody>
      </p:sp>
      <p:sp>
        <p:nvSpPr>
          <p:cNvPr id="7" name="Line 7"/>
          <p:cNvSpPr/>
          <p:nvPr/>
        </p:nvSpPr>
        <p:spPr>
          <a:xfrm>
            <a:off x="781050" y="2133600"/>
            <a:ext cx="952" cy="3219450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</p:sp>
      <p:sp>
        <p:nvSpPr>
          <p:cNvPr id="8" name="Path 8"/>
          <p:cNvSpPr/>
          <p:nvPr/>
        </p:nvSpPr>
        <p:spPr>
          <a:xfrm>
            <a:off x="571500" y="17145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440000" h="440000">
                <a:moveTo>
                  <a:pt x="220000" y="0"/>
                </a:moveTo>
                <a:lnTo>
                  <a:pt x="220000" y="0"/>
                </a:lnTo>
                <a:cubicBezTo>
                  <a:pt x="341503" y="0"/>
                  <a:pt x="440000" y="98497"/>
                  <a:pt x="440000" y="220000"/>
                </a:cubicBezTo>
                <a:lnTo>
                  <a:pt x="440000" y="220000"/>
                </a:lnTo>
                <a:cubicBezTo>
                  <a:pt x="440000" y="341503"/>
                  <a:pt x="341503" y="440000"/>
                  <a:pt x="220000" y="440000"/>
                </a:cubicBezTo>
                <a:lnTo>
                  <a:pt x="220000" y="440000"/>
                </a:lnTo>
                <a:cubicBezTo>
                  <a:pt x="98497" y="440000"/>
                  <a:pt x="0" y="341503"/>
                  <a:pt x="0" y="220000"/>
                </a:cubicBezTo>
                <a:lnTo>
                  <a:pt x="0" y="220000"/>
                </a:lnTo>
                <a:cubicBezTo>
                  <a:pt x="0" y="98497"/>
                  <a:pt x="98497" y="0"/>
                  <a:pt x="2200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9" name="Path 9"/>
          <p:cNvSpPr/>
          <p:nvPr/>
        </p:nvSpPr>
        <p:spPr>
          <a:xfrm>
            <a:off x="571500" y="28575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440000" h="440000">
                <a:moveTo>
                  <a:pt x="220000" y="0"/>
                </a:moveTo>
                <a:lnTo>
                  <a:pt x="220000" y="0"/>
                </a:lnTo>
                <a:cubicBezTo>
                  <a:pt x="341503" y="0"/>
                  <a:pt x="440000" y="98497"/>
                  <a:pt x="440000" y="220000"/>
                </a:cubicBezTo>
                <a:lnTo>
                  <a:pt x="440000" y="220000"/>
                </a:lnTo>
                <a:cubicBezTo>
                  <a:pt x="440000" y="341503"/>
                  <a:pt x="341503" y="440000"/>
                  <a:pt x="220000" y="440000"/>
                </a:cubicBezTo>
                <a:lnTo>
                  <a:pt x="220000" y="440000"/>
                </a:lnTo>
                <a:cubicBezTo>
                  <a:pt x="98497" y="440000"/>
                  <a:pt x="0" y="341503"/>
                  <a:pt x="0" y="220000"/>
                </a:cubicBezTo>
                <a:lnTo>
                  <a:pt x="0" y="220000"/>
                </a:lnTo>
                <a:cubicBezTo>
                  <a:pt x="0" y="98497"/>
                  <a:pt x="98497" y="0"/>
                  <a:pt x="2200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0" name="Path 10"/>
          <p:cNvSpPr/>
          <p:nvPr/>
        </p:nvSpPr>
        <p:spPr>
          <a:xfrm>
            <a:off x="571500" y="40005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440000" h="440000">
                <a:moveTo>
                  <a:pt x="220000" y="0"/>
                </a:moveTo>
                <a:lnTo>
                  <a:pt x="220000" y="0"/>
                </a:lnTo>
                <a:cubicBezTo>
                  <a:pt x="341503" y="0"/>
                  <a:pt x="440000" y="98497"/>
                  <a:pt x="440000" y="220000"/>
                </a:cubicBezTo>
                <a:lnTo>
                  <a:pt x="440000" y="220000"/>
                </a:lnTo>
                <a:cubicBezTo>
                  <a:pt x="440000" y="341503"/>
                  <a:pt x="341503" y="440000"/>
                  <a:pt x="220000" y="440000"/>
                </a:cubicBezTo>
                <a:lnTo>
                  <a:pt x="220000" y="440000"/>
                </a:lnTo>
                <a:cubicBezTo>
                  <a:pt x="98497" y="440000"/>
                  <a:pt x="0" y="341503"/>
                  <a:pt x="0" y="220000"/>
                </a:cubicBezTo>
                <a:lnTo>
                  <a:pt x="0" y="220000"/>
                </a:lnTo>
                <a:cubicBezTo>
                  <a:pt x="0" y="98497"/>
                  <a:pt x="98497" y="0"/>
                  <a:pt x="2200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1" name="Path 11"/>
          <p:cNvSpPr/>
          <p:nvPr/>
        </p:nvSpPr>
        <p:spPr>
          <a:xfrm>
            <a:off x="571500" y="51435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440000" h="440000">
                <a:moveTo>
                  <a:pt x="220000" y="0"/>
                </a:moveTo>
                <a:lnTo>
                  <a:pt x="220000" y="0"/>
                </a:lnTo>
                <a:cubicBezTo>
                  <a:pt x="341503" y="0"/>
                  <a:pt x="440000" y="98497"/>
                  <a:pt x="440000" y="220000"/>
                </a:cubicBezTo>
                <a:lnTo>
                  <a:pt x="440000" y="220000"/>
                </a:lnTo>
                <a:cubicBezTo>
                  <a:pt x="440000" y="341503"/>
                  <a:pt x="341503" y="440000"/>
                  <a:pt x="220000" y="440000"/>
                </a:cubicBezTo>
                <a:lnTo>
                  <a:pt x="220000" y="440000"/>
                </a:lnTo>
                <a:cubicBezTo>
                  <a:pt x="98497" y="440000"/>
                  <a:pt x="0" y="341503"/>
                  <a:pt x="0" y="220000"/>
                </a:cubicBezTo>
                <a:lnTo>
                  <a:pt x="0" y="220000"/>
                </a:lnTo>
                <a:cubicBezTo>
                  <a:pt x="0" y="98497"/>
                  <a:pt x="98497" y="0"/>
                  <a:pt x="2200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2" name="Text 12"/>
          <p:cNvSpPr txBox="1"/>
          <p:nvPr/>
        </p:nvSpPr>
        <p:spPr>
          <a:xfrm>
            <a:off x="588539" y="1761172"/>
            <a:ext cx="385022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43000" y="1781175"/>
            <a:ext cx="2220754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创建小程序页面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143000" y="2087880"/>
            <a:ext cx="4428363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在 pages 目录下新建文件夹和四个核心文件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88539" y="2904172"/>
            <a:ext cx="385022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43000" y="2924175"/>
            <a:ext cx="2597801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编辑 WXML 与 WXSS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43000" y="3230880"/>
            <a:ext cx="413004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WXML 搭建视图结构，WXSS 控制页面样式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88539" y="4047172"/>
            <a:ext cx="385022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143000" y="4067175"/>
            <a:ext cx="2133743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编写 JS 逻辑层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" y="4373880"/>
            <a:ext cx="401955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在 JS 文件中定义 data 和事件处理函数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88539" y="5190172"/>
            <a:ext cx="385022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143000" y="5210175"/>
            <a:ext cx="2220754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1E293B"/>
                </a:solidFill>
                <a:latin typeface="Microsoft YaHei"/>
                <a:ea typeface="Microsoft YaHei"/>
              </a:rPr>
              <a:t>编译与真机调试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143000" y="5516880"/>
            <a:ext cx="4339971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点击编译预览效果，使用真机调试测试 API</a:t>
            </a:r>
          </a:p>
        </p:txBody>
      </p:sp>
      <p:sp>
        <p:nvSpPr>
          <p:cNvPr id="24" name="Path 24"/>
          <p:cNvSpPr/>
          <p:nvPr/>
        </p:nvSpPr>
        <p:spPr>
          <a:xfrm>
            <a:off x="6667500" y="1714500"/>
            <a:ext cx="4953000" cy="4191000"/>
          </a:xfrm>
          <a:custGeom>
            <a:avLst/>
            <a:gdLst/>
            <a:ahLst/>
            <a:cxnLst/>
            <a:rect l="0" t="0" r="0" b="0"/>
            <a:pathLst>
              <a:path w="5200000" h="4400000">
                <a:moveTo>
                  <a:pt x="160000" y="0"/>
                </a:moveTo>
                <a:lnTo>
                  <a:pt x="5040000" y="0"/>
                </a:lnTo>
                <a:cubicBezTo>
                  <a:pt x="5128366" y="0"/>
                  <a:pt x="5200000" y="71634"/>
                  <a:pt x="5200000" y="160000"/>
                </a:cubicBezTo>
                <a:lnTo>
                  <a:pt x="5200000" y="4240000"/>
                </a:lnTo>
                <a:cubicBezTo>
                  <a:pt x="5200000" y="4328366"/>
                  <a:pt x="5128366" y="4400000"/>
                  <a:pt x="5040000" y="4400000"/>
                </a:cubicBezTo>
                <a:lnTo>
                  <a:pt x="160000" y="4400000"/>
                </a:lnTo>
                <a:cubicBezTo>
                  <a:pt x="71634" y="4400000"/>
                  <a:pt x="0" y="4328366"/>
                  <a:pt x="0" y="4240000"/>
                </a:cubicBezTo>
                <a:lnTo>
                  <a:pt x="0" y="160000"/>
                </a:lnTo>
                <a:cubicBezTo>
                  <a:pt x="0" y="71634"/>
                  <a:pt x="71634" y="0"/>
                  <a:pt x="160000" y="0"/>
                </a:cubicBezTo>
                <a:close/>
              </a:path>
            </a:pathLst>
          </a:custGeom>
          <a:solidFill>
            <a:srgbClr val="F8FAFC"/>
          </a:solidFill>
          <a:ln w="19050">
            <a:solidFill>
              <a:srgbClr val="E2E8F0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7048500" y="1923098"/>
            <a:ext cx="2123789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650" b="1" dirty="0">
                <a:solidFill>
                  <a:srgbClr val="1E293B"/>
                </a:solidFill>
                <a:latin typeface="Microsoft YaHei"/>
                <a:ea typeface="Microsoft YaHei"/>
              </a:rPr>
              <a:t>开发工具提示</a:t>
            </a:r>
          </a:p>
        </p:txBody>
      </p:sp>
      <p:sp>
        <p:nvSpPr>
          <p:cNvPr id="26" name="Line 26"/>
          <p:cNvSpPr/>
          <p:nvPr/>
        </p:nvSpPr>
        <p:spPr>
          <a:xfrm>
            <a:off x="7048500" y="2333625"/>
            <a:ext cx="4191000" cy="952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</p:sp>
      <p:sp>
        <p:nvSpPr>
          <p:cNvPr id="27" name="Path 27"/>
          <p:cNvSpPr/>
          <p:nvPr/>
        </p:nvSpPr>
        <p:spPr>
          <a:xfrm>
            <a:off x="7048500" y="266700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480000" h="480000">
                <a:moveTo>
                  <a:pt x="120000" y="0"/>
                </a:moveTo>
                <a:lnTo>
                  <a:pt x="360000" y="0"/>
                </a:lnTo>
                <a:cubicBezTo>
                  <a:pt x="426274" y="0"/>
                  <a:pt x="480000" y="53726"/>
                  <a:pt x="480000" y="120000"/>
                </a:cubicBezTo>
                <a:lnTo>
                  <a:pt x="480000" y="360000"/>
                </a:lnTo>
                <a:cubicBezTo>
                  <a:pt x="480000" y="426274"/>
                  <a:pt x="426274" y="480000"/>
                  <a:pt x="360000" y="480000"/>
                </a:cubicBezTo>
                <a:lnTo>
                  <a:pt x="120000" y="480000"/>
                </a:lnTo>
                <a:cubicBezTo>
                  <a:pt x="53726" y="480000"/>
                  <a:pt x="0" y="426274"/>
                  <a:pt x="0" y="360000"/>
                </a:cubicBezTo>
                <a:lnTo>
                  <a:pt x="0" y="120000"/>
                </a:lnTo>
                <a:cubicBezTo>
                  <a:pt x="0" y="53726"/>
                  <a:pt x="53726" y="0"/>
                  <a:pt x="120000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28" name="Text 28"/>
          <p:cNvSpPr txBox="1"/>
          <p:nvPr/>
        </p:nvSpPr>
        <p:spPr>
          <a:xfrm>
            <a:off x="7620000" y="2753678"/>
            <a:ext cx="2599053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Microsoft YaHei"/>
                <a:ea typeface="Microsoft YaHei"/>
              </a:rPr>
              <a:t>编译预览 (Ctrl + R)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7620000" y="3002280"/>
            <a:ext cx="346710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快速查看页面效果，及时调整布局</a:t>
            </a:r>
          </a:p>
        </p:txBody>
      </p:sp>
      <p:sp>
        <p:nvSpPr>
          <p:cNvPr id="30" name="Path 30"/>
          <p:cNvSpPr/>
          <p:nvPr/>
        </p:nvSpPr>
        <p:spPr>
          <a:xfrm>
            <a:off x="7048500" y="352425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480000" h="480000">
                <a:moveTo>
                  <a:pt x="120000" y="0"/>
                </a:moveTo>
                <a:lnTo>
                  <a:pt x="360000" y="0"/>
                </a:lnTo>
                <a:cubicBezTo>
                  <a:pt x="426274" y="0"/>
                  <a:pt x="480000" y="53726"/>
                  <a:pt x="480000" y="120000"/>
                </a:cubicBezTo>
                <a:lnTo>
                  <a:pt x="480000" y="360000"/>
                </a:lnTo>
                <a:cubicBezTo>
                  <a:pt x="480000" y="426274"/>
                  <a:pt x="426274" y="480000"/>
                  <a:pt x="360000" y="480000"/>
                </a:cubicBezTo>
                <a:lnTo>
                  <a:pt x="120000" y="480000"/>
                </a:lnTo>
                <a:cubicBezTo>
                  <a:pt x="53726" y="480000"/>
                  <a:pt x="0" y="426274"/>
                  <a:pt x="0" y="360000"/>
                </a:cubicBezTo>
                <a:lnTo>
                  <a:pt x="0" y="120000"/>
                </a:lnTo>
                <a:cubicBezTo>
                  <a:pt x="0" y="53726"/>
                  <a:pt x="53726" y="0"/>
                  <a:pt x="120000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31" name="Text 31"/>
          <p:cNvSpPr txBox="1"/>
          <p:nvPr/>
        </p:nvSpPr>
        <p:spPr>
          <a:xfrm>
            <a:off x="7620000" y="3610928"/>
            <a:ext cx="1215580" cy="231458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Microsoft YaHei"/>
                <a:ea typeface="Microsoft YaHei"/>
              </a:rPr>
              <a:t>真机调试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7620000" y="3859530"/>
            <a:ext cx="3235071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在微信客户端真实环境测试 API</a:t>
            </a:r>
          </a:p>
        </p:txBody>
      </p:sp>
      <p:sp>
        <p:nvSpPr>
          <p:cNvPr id="33" name="Path 33"/>
          <p:cNvSpPr/>
          <p:nvPr/>
        </p:nvSpPr>
        <p:spPr>
          <a:xfrm>
            <a:off x="7048500" y="4762500"/>
            <a:ext cx="4191000" cy="762000"/>
          </a:xfrm>
          <a:custGeom>
            <a:avLst/>
            <a:gdLst/>
            <a:ahLst/>
            <a:cxnLst/>
            <a:rect l="0" t="0" r="0" b="0"/>
            <a:pathLst>
              <a:path w="4400000" h="800000">
                <a:moveTo>
                  <a:pt x="80000" y="0"/>
                </a:moveTo>
                <a:lnTo>
                  <a:pt x="4320000" y="0"/>
                </a:lnTo>
                <a:cubicBezTo>
                  <a:pt x="4364183" y="0"/>
                  <a:pt x="4400000" y="35817"/>
                  <a:pt x="4400000" y="80000"/>
                </a:cubicBezTo>
                <a:lnTo>
                  <a:pt x="4400000" y="720000"/>
                </a:lnTo>
                <a:cubicBezTo>
                  <a:pt x="4400000" y="764183"/>
                  <a:pt x="4364183" y="800000"/>
                  <a:pt x="4320000" y="800000"/>
                </a:cubicBezTo>
                <a:lnTo>
                  <a:pt x="80000" y="800000"/>
                </a:lnTo>
                <a:cubicBezTo>
                  <a:pt x="35817" y="800000"/>
                  <a:pt x="0" y="764183"/>
                  <a:pt x="0" y="720000"/>
                </a:cubicBezTo>
                <a:lnTo>
                  <a:pt x="0" y="80000"/>
                </a:lnTo>
                <a:cubicBezTo>
                  <a:pt x="0" y="35817"/>
                  <a:pt x="35817" y="0"/>
                  <a:pt x="800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7239000" y="4888230"/>
            <a:ext cx="3212973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Microsoft YaHei"/>
                <a:ea typeface="Microsoft YaHei"/>
              </a:rPr>
              <a:t>💡 提示：真机调试需要扫码授权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239000" y="5135880"/>
            <a:ext cx="302514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确保手机与电脑在同一网络下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71500" y="6336982"/>
            <a:ext cx="1950911" cy="180023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</a:rPr>
              <a:t>6 / 8 · 开发流程演示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Circle 3"/>
          <p:cNvSpPr/>
          <p:nvPr/>
        </p:nvSpPr>
        <p:spPr>
          <a:xfrm>
            <a:off x="9715500" y="-762000"/>
            <a:ext cx="3429000" cy="3429000"/>
          </a:xfrm>
          <a:prstGeom prst="ellipse">
            <a:avLst/>
          </a:prstGeom>
          <a:solidFill>
            <a:srgbClr val="DBEAFE">
              <a:alpha val="40000"/>
            </a:srgbClr>
          </a:solidFill>
        </p:spPr>
      </p:sp>
      <p:sp>
        <p:nvSpPr>
          <p:cNvPr id="4" name="Circle 4"/>
          <p:cNvSpPr/>
          <p:nvPr/>
        </p:nvSpPr>
        <p:spPr>
          <a:xfrm>
            <a:off x="-762000" y="5143500"/>
            <a:ext cx="2667000" cy="2667000"/>
          </a:xfrm>
          <a:prstGeom prst="ellipse">
            <a:avLst/>
          </a:prstGeom>
          <a:solidFill>
            <a:srgbClr val="DBEAFE">
              <a:alpha val="25000"/>
            </a:srgbClr>
          </a:solidFill>
        </p:spPr>
      </p:sp>
      <p:sp>
        <p:nvSpPr>
          <p:cNvPr id="5" name="Path 5"/>
          <p:cNvSpPr/>
          <p:nvPr/>
        </p:nvSpPr>
        <p:spPr>
          <a:xfrm>
            <a:off x="571500" y="762000"/>
            <a:ext cx="57150" cy="342900"/>
          </a:xfrm>
          <a:custGeom>
            <a:avLst/>
            <a:gdLst/>
            <a:ahLst/>
            <a:cxnLst/>
            <a:rect l="0" t="0" r="0" b="0"/>
            <a:pathLst>
              <a:path w="60000" h="360000">
                <a:moveTo>
                  <a:pt x="30000" y="0"/>
                </a:moveTo>
                <a:lnTo>
                  <a:pt x="30000" y="0"/>
                </a:lnTo>
                <a:cubicBezTo>
                  <a:pt x="46569" y="0"/>
                  <a:pt x="60000" y="13431"/>
                  <a:pt x="60000" y="30000"/>
                </a:cubicBezTo>
                <a:lnTo>
                  <a:pt x="60000" y="330000"/>
                </a:lnTo>
                <a:cubicBezTo>
                  <a:pt x="60000" y="346569"/>
                  <a:pt x="46569" y="360000"/>
                  <a:pt x="30000" y="360000"/>
                </a:cubicBezTo>
                <a:lnTo>
                  <a:pt x="30000" y="360000"/>
                </a:lnTo>
                <a:cubicBezTo>
                  <a:pt x="13431" y="360000"/>
                  <a:pt x="0" y="346569"/>
                  <a:pt x="0" y="330000"/>
                </a:cubicBezTo>
                <a:lnTo>
                  <a:pt x="0" y="30000"/>
                </a:lnTo>
                <a:cubicBezTo>
                  <a:pt x="0" y="13431"/>
                  <a:pt x="13431" y="0"/>
                  <a:pt x="30000" y="0"/>
                </a:cubicBezTo>
                <a:close/>
              </a:path>
            </a:pathLst>
          </a:custGeom>
          <a:solidFill>
            <a:srgbClr val="2563EB"/>
          </a:solidFill>
        </p:spPr>
      </p:sp>
      <p:sp>
        <p:nvSpPr>
          <p:cNvPr id="6" name="Text 6"/>
          <p:cNvSpPr txBox="1"/>
          <p:nvPr/>
        </p:nvSpPr>
        <p:spPr>
          <a:xfrm>
            <a:off x="762000" y="689610"/>
            <a:ext cx="2601887" cy="41148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1E293B"/>
                </a:solidFill>
                <a:latin typeface="Microsoft YaHei"/>
                <a:ea typeface="Microsoft YaHei"/>
              </a:rPr>
              <a:t>总结与 Q&amp;A</a:t>
            </a:r>
          </a:p>
        </p:txBody>
      </p:sp>
      <p:sp>
        <p:nvSpPr>
          <p:cNvPr id="7" name="Circle 7"/>
          <p:cNvSpPr/>
          <p:nvPr/>
        </p:nvSpPr>
        <p:spPr>
          <a:xfrm>
            <a:off x="895350" y="1752600"/>
            <a:ext cx="114300" cy="1143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8" name="Text 8"/>
          <p:cNvSpPr txBox="1"/>
          <p:nvPr/>
        </p:nvSpPr>
        <p:spPr>
          <a:xfrm>
            <a:off x="1143000" y="1666875"/>
            <a:ext cx="3850481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dirty="0">
                <a:solidFill>
                  <a:srgbClr val="1E293B"/>
                </a:solidFill>
                <a:latin typeface="Microsoft YaHei"/>
                <a:ea typeface="Microsoft YaHei"/>
              </a:rPr>
              <a:t>小程序 = 轻量、高效、生态丰富</a:t>
            </a:r>
          </a:p>
        </p:txBody>
      </p:sp>
      <p:sp>
        <p:nvSpPr>
          <p:cNvPr id="9" name="Circle 9"/>
          <p:cNvSpPr/>
          <p:nvPr/>
        </p:nvSpPr>
        <p:spPr>
          <a:xfrm>
            <a:off x="895350" y="2324100"/>
            <a:ext cx="114300" cy="1143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0" name="Text 10"/>
          <p:cNvSpPr txBox="1"/>
          <p:nvPr/>
        </p:nvSpPr>
        <p:spPr>
          <a:xfrm>
            <a:off x="1143000" y="2238375"/>
            <a:ext cx="4541044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dirty="0">
                <a:solidFill>
                  <a:srgbClr val="1E293B"/>
                </a:solidFill>
                <a:latin typeface="Microsoft YaHei"/>
                <a:ea typeface="Microsoft YaHei"/>
              </a:rPr>
              <a:t>核心：理解</a:t>
            </a:r>
            <a:r>
              <a:rPr lang="en-US" sz="1500" b="1" dirty="0">
                <a:solidFill>
                  <a:srgbClr val="000000"/>
                </a:solidFill>
                <a:latin typeface="Microsoft YaHei"/>
                <a:ea typeface="Microsoft YaHei"/>
              </a:rPr>
              <a:t>双线程架构</a:t>
            </a:r>
            <a:r>
              <a:rPr lang="en-US" sz="1500" dirty="0">
                <a:solidFill>
                  <a:srgbClr val="1E293B"/>
                </a:solidFill>
                <a:latin typeface="Microsoft YaHei"/>
                <a:ea typeface="Microsoft YaHei"/>
              </a:rPr>
              <a:t>和</a:t>
            </a:r>
            <a:r>
              <a:rPr lang="en-US" sz="1500" b="1" dirty="0">
                <a:solidFill>
                  <a:srgbClr val="000000"/>
                </a:solidFill>
                <a:latin typeface="Microsoft YaHei"/>
                <a:ea typeface="Microsoft YaHei"/>
              </a:rPr>
              <a:t>数据驱动</a:t>
            </a:r>
          </a:p>
        </p:txBody>
      </p:sp>
      <p:sp>
        <p:nvSpPr>
          <p:cNvPr id="11" name="Circle 11"/>
          <p:cNvSpPr/>
          <p:nvPr/>
        </p:nvSpPr>
        <p:spPr>
          <a:xfrm>
            <a:off x="895350" y="2895600"/>
            <a:ext cx="114300" cy="1143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12"/>
          <p:cNvSpPr txBox="1"/>
          <p:nvPr/>
        </p:nvSpPr>
        <p:spPr>
          <a:xfrm>
            <a:off x="1143000" y="2809875"/>
            <a:ext cx="5190172" cy="257175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500" dirty="0">
                <a:solidFill>
                  <a:srgbClr val="1E293B"/>
                </a:solidFill>
                <a:latin typeface="Microsoft YaHei"/>
                <a:ea typeface="Microsoft YaHei"/>
              </a:rPr>
              <a:t>下一步：学习云开发、分包优化、插件使用</a:t>
            </a:r>
          </a:p>
        </p:txBody>
      </p:sp>
      <p:sp>
        <p:nvSpPr>
          <p:cNvPr id="13" name="Path 13"/>
          <p:cNvSpPr/>
          <p:nvPr/>
        </p:nvSpPr>
        <p:spPr>
          <a:xfrm>
            <a:off x="762000" y="3810000"/>
            <a:ext cx="5715000" cy="952500"/>
          </a:xfrm>
          <a:custGeom>
            <a:avLst/>
            <a:gdLst/>
            <a:ahLst/>
            <a:cxnLst/>
            <a:rect l="0" t="0" r="0" b="0"/>
            <a:pathLst>
              <a:path w="6000000" h="1000000">
                <a:moveTo>
                  <a:pt x="120000" y="0"/>
                </a:moveTo>
                <a:lnTo>
                  <a:pt x="5880000" y="0"/>
                </a:lnTo>
                <a:cubicBezTo>
                  <a:pt x="5946274" y="0"/>
                  <a:pt x="6000000" y="53726"/>
                  <a:pt x="6000000" y="120000"/>
                </a:cubicBezTo>
                <a:lnTo>
                  <a:pt x="6000000" y="880000"/>
                </a:lnTo>
                <a:cubicBezTo>
                  <a:pt x="6000000" y="946274"/>
                  <a:pt x="5946274" y="1000000"/>
                  <a:pt x="5880000" y="1000000"/>
                </a:cubicBezTo>
                <a:lnTo>
                  <a:pt x="120000" y="1000000"/>
                </a:lnTo>
                <a:cubicBezTo>
                  <a:pt x="53726" y="1000000"/>
                  <a:pt x="0" y="946274"/>
                  <a:pt x="0" y="880000"/>
                </a:cubicBezTo>
                <a:lnTo>
                  <a:pt x="0" y="120000"/>
                </a:lnTo>
                <a:cubicBezTo>
                  <a:pt x="0" y="53726"/>
                  <a:pt x="53726" y="0"/>
                  <a:pt x="120000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14" name="Text 14"/>
          <p:cNvSpPr txBox="1"/>
          <p:nvPr/>
        </p:nvSpPr>
        <p:spPr>
          <a:xfrm>
            <a:off x="1600486" y="4018598"/>
            <a:ext cx="4038028" cy="28289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650" b="1" dirty="0">
                <a:solidFill>
                  <a:srgbClr val="1E293B"/>
                </a:solidFill>
                <a:latin typeface="Microsoft YaHei"/>
                <a:ea typeface="Microsoft YaHei"/>
              </a:rPr>
              <a:t>感谢聆听，欢迎提问探讨！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106930" y="4364355"/>
            <a:ext cx="302514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期待你用小程序创造更多价值</a:t>
            </a:r>
          </a:p>
        </p:txBody>
      </p:sp>
      <p:sp>
        <p:nvSpPr>
          <p:cNvPr id="16" name="Path 16"/>
          <p:cNvSpPr/>
          <p:nvPr/>
        </p:nvSpPr>
        <p:spPr>
          <a:xfrm>
            <a:off x="7048500" y="1524000"/>
            <a:ext cx="4572000" cy="3238500"/>
          </a:xfrm>
          <a:custGeom>
            <a:avLst/>
            <a:gdLst/>
            <a:ahLst/>
            <a:cxnLst/>
            <a:rect l="0" t="0" r="0" b="0"/>
            <a:pathLst>
              <a:path w="4800000" h="3400000">
                <a:moveTo>
                  <a:pt x="160000" y="0"/>
                </a:moveTo>
                <a:lnTo>
                  <a:pt x="4640000" y="0"/>
                </a:lnTo>
                <a:cubicBezTo>
                  <a:pt x="4728366" y="0"/>
                  <a:pt x="4800000" y="71634"/>
                  <a:pt x="4800000" y="160000"/>
                </a:cubicBezTo>
                <a:lnTo>
                  <a:pt x="4800000" y="3240000"/>
                </a:lnTo>
                <a:cubicBezTo>
                  <a:pt x="4800000" y="3328366"/>
                  <a:pt x="4728366" y="3400000"/>
                  <a:pt x="4640000" y="3400000"/>
                </a:cubicBezTo>
                <a:lnTo>
                  <a:pt x="160000" y="3400000"/>
                </a:lnTo>
                <a:cubicBezTo>
                  <a:pt x="71634" y="3400000"/>
                  <a:pt x="0" y="3328366"/>
                  <a:pt x="0" y="3240000"/>
                </a:cubicBezTo>
                <a:lnTo>
                  <a:pt x="0" y="160000"/>
                </a:lnTo>
                <a:cubicBezTo>
                  <a:pt x="0" y="71634"/>
                  <a:pt x="71634" y="0"/>
                  <a:pt x="160000" y="0"/>
                </a:cubicBezTo>
                <a:close/>
              </a:path>
            </a:pathLst>
          </a:custGeom>
          <a:solidFill>
            <a:srgbClr val="F8FAFC"/>
          </a:solidFill>
          <a:ln w="19050">
            <a:solidFill>
              <a:srgbClr val="E2E8F0"/>
            </a:solidFill>
          </a:ln>
        </p:spPr>
      </p:sp>
      <p:sp>
        <p:nvSpPr>
          <p:cNvPr id="17" name="Circle 17"/>
          <p:cNvSpPr/>
          <p:nvPr/>
        </p:nvSpPr>
        <p:spPr>
          <a:xfrm>
            <a:off x="7524750" y="1809750"/>
            <a:ext cx="1333500" cy="1333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8" name="Circle 18"/>
          <p:cNvSpPr/>
          <p:nvPr/>
        </p:nvSpPr>
        <p:spPr>
          <a:xfrm>
            <a:off x="9429750" y="1809750"/>
            <a:ext cx="1333500" cy="1333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8828651" y="3379470"/>
            <a:ext cx="1011698" cy="30861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800" b="1" dirty="0">
                <a:solidFill>
                  <a:srgbClr val="1E293B"/>
                </a:solidFill>
                <a:latin typeface="Arial"/>
                <a:ea typeface="Arial"/>
              </a:rPr>
              <a:t>Q &amp; 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932420" y="3745230"/>
            <a:ext cx="2804160" cy="20574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Microsoft YaHei"/>
                <a:ea typeface="Microsoft YaHei"/>
              </a:rPr>
              <a:t>有任何问题，欢迎随时交流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71500" y="6336982"/>
            <a:ext cx="1747885" cy="180023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</a:rPr>
              <a:t>8 / 8 · 总结与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